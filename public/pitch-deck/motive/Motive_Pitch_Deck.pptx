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824"/>
        </a:solidFill>
      </p:bgPr>
    </p:bg>
    <p:spTree>
      <p:nvGrpSpPr>
        <p:cNvPr id="1" name=""/>
        <p:cNvGrpSpPr/>
        <p:nvPr/>
      </p:nvGrpSpPr>
      <p:grpSpPr>
        <a:xfrm>
          <a:off x="0" y="0"/>
          <a:ext cx="0" cy="0"/>
          <a:chOff x="0" y="0"/>
          <a:chExt cx="0" cy="0"/>
        </a:xfrm>
      </p:grpSpPr>
      <p:sp>
        <p:nvSpPr>
          <p:cNvPr id="2" name="Text 0"/>
          <p:cNvSpPr/>
          <p:nvPr/>
        </p:nvSpPr>
        <p:spPr>
          <a:xfrm>
            <a:off x="548640" y="1920240"/>
            <a:ext cx="11094415" cy="914400"/>
          </a:xfrm>
          <a:prstGeom prst="rect">
            <a:avLst/>
          </a:prstGeom>
          <a:noFill/>
          <a:ln/>
        </p:spPr>
        <p:txBody>
          <a:bodyPr wrap="square" lIns="0" tIns="0" rIns="0" bIns="0" rtlCol="0" anchor="ctr"/>
          <a:lstStyle/>
          <a:p>
            <a:pPr indent="0" marL="0">
              <a:buNone/>
            </a:pPr>
            <a:r>
              <a:rPr lang="en-US" sz="6400" b="1" dirty="0">
                <a:solidFill>
                  <a:srgbClr val="EFEAE0"/>
                </a:solidFill>
                <a:latin typeface="Arial" pitchFamily="34" charset="0"/>
                <a:ea typeface="Arial" pitchFamily="34" charset="-122"/>
                <a:cs typeface="Arial" pitchFamily="34" charset="-120"/>
              </a:rPr>
              <a:t>MOTIVE</a:t>
            </a:r>
            <a:endParaRPr lang="en-US" sz="6400" dirty="0"/>
          </a:p>
        </p:txBody>
      </p:sp>
      <p:sp>
        <p:nvSpPr>
          <p:cNvPr id="3" name="Text 1"/>
          <p:cNvSpPr/>
          <p:nvPr/>
        </p:nvSpPr>
        <p:spPr>
          <a:xfrm>
            <a:off x="548640" y="2926080"/>
            <a:ext cx="11094415" cy="457200"/>
          </a:xfrm>
          <a:prstGeom prst="rect">
            <a:avLst/>
          </a:prstGeom>
          <a:noFill/>
          <a:ln/>
        </p:spPr>
        <p:txBody>
          <a:bodyPr wrap="square" lIns="0" tIns="0" rIns="0" bIns="0" rtlCol="0" anchor="ctr"/>
          <a:lstStyle/>
          <a:p>
            <a:pPr indent="0" marL="0">
              <a:buNone/>
            </a:pPr>
            <a:r>
              <a:rPr lang="en-US" sz="2200" dirty="0">
                <a:solidFill>
                  <a:srgbClr val="B85C38"/>
                </a:solidFill>
                <a:latin typeface="Arial" pitchFamily="34" charset="0"/>
                <a:ea typeface="Arial" pitchFamily="34" charset="-122"/>
                <a:cs typeface="Arial" pitchFamily="34" charset="-120"/>
              </a:rPr>
              <a:t>Motivation-driven benefits + intentional experiences</a:t>
            </a:r>
            <a:endParaRPr lang="en-US" sz="2200" dirty="0"/>
          </a:p>
        </p:txBody>
      </p:sp>
      <p:sp>
        <p:nvSpPr>
          <p:cNvPr id="4" name="Text 2"/>
          <p:cNvSpPr/>
          <p:nvPr/>
        </p:nvSpPr>
        <p:spPr>
          <a:xfrm>
            <a:off x="548640" y="3657600"/>
            <a:ext cx="8229600" cy="914400"/>
          </a:xfrm>
          <a:prstGeom prst="rect">
            <a:avLst/>
          </a:prstGeom>
          <a:noFill/>
          <a:ln/>
        </p:spPr>
        <p:txBody>
          <a:bodyPr wrap="square" lIns="0" tIns="0" rIns="0" bIns="0" rtlCol="0" anchor="ctr"/>
          <a:lstStyle/>
          <a:p>
            <a:pPr indent="0" marL="0">
              <a:buNone/>
            </a:pPr>
            <a:r>
              <a:rPr lang="en-US" sz="1600" dirty="0">
                <a:solidFill>
                  <a:srgbClr val="A89F93"/>
                </a:solidFill>
                <a:latin typeface="Arial" pitchFamily="34" charset="0"/>
                <a:ea typeface="Arial" pitchFamily="34" charset="-122"/>
                <a:cs typeface="Arial" pitchFamily="34" charset="-120"/>
              </a:rPr>
              <a:t>A new category that starts with why people move —</a:t>
            </a:r>
            <a:endParaRPr lang="en-US" sz="1600" dirty="0"/>
          </a:p>
          <a:p>
            <a:pPr indent="0" marL="0">
              <a:buNone/>
            </a:pPr>
            <a:r>
              <a:rPr lang="en-US" sz="1600" dirty="0">
                <a:solidFill>
                  <a:srgbClr val="A89F93"/>
                </a:solidFill>
                <a:latin typeface="Arial" pitchFamily="34" charset="0"/>
                <a:ea typeface="Arial" pitchFamily="34" charset="-122"/>
                <a:cs typeface="Arial" pitchFamily="34" charset="-120"/>
              </a:rPr>
              <a:t>then designs the daily perks and the high-impact retreats around it.</a:t>
            </a:r>
            <a:endParaRPr lang="en-US" sz="1600" dirty="0"/>
          </a:p>
        </p:txBody>
      </p:sp>
      <p:sp>
        <p:nvSpPr>
          <p:cNvPr id="5" name="Text 3"/>
          <p:cNvSpPr/>
          <p:nvPr/>
        </p:nvSpPr>
        <p:spPr>
          <a:xfrm>
            <a:off x="548640" y="6035040"/>
            <a:ext cx="7315200" cy="274320"/>
          </a:xfrm>
          <a:prstGeom prst="rect">
            <a:avLst/>
          </a:prstGeom>
          <a:noFill/>
          <a:ln/>
        </p:spPr>
        <p:txBody>
          <a:bodyPr wrap="square" lIns="0" tIns="0" rIns="0" bIns="0" rtlCol="0" anchor="ctr"/>
          <a:lstStyle/>
          <a:p>
            <a:pPr indent="0" marL="0">
              <a:buNone/>
            </a:pPr>
            <a:r>
              <a:rPr lang="en-US" sz="1200" dirty="0">
                <a:solidFill>
                  <a:srgbClr val="A89F93"/>
                </a:solidFill>
                <a:latin typeface="Arial" pitchFamily="34" charset="0"/>
                <a:ea typeface="Arial" pitchFamily="34" charset="-122"/>
                <a:cs typeface="Arial" pitchFamily="34" charset="-120"/>
              </a:rPr>
              <a:t>Partner Alignment Deck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THE PROBLEM</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02</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02 / 12</a:t>
            </a:r>
            <a:endParaRPr lang="en-US" sz="900" dirty="0"/>
          </a:p>
        </p:txBody>
      </p:sp>
      <p:sp>
        <p:nvSpPr>
          <p:cNvPr id="6" name="Text 4"/>
          <p:cNvSpPr/>
          <p:nvPr/>
        </p:nvSpPr>
        <p:spPr>
          <a:xfrm>
            <a:off x="548640" y="777240"/>
            <a:ext cx="10972800" cy="100584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Benefits are still transactional.</a:t>
            </a:r>
            <a:endParaRPr lang="en-US" sz="2800" dirty="0"/>
          </a:p>
          <a:p>
            <a:pPr indent="0" marL="0">
              <a:buNone/>
            </a:pPr>
            <a:r>
              <a:rPr lang="en-US" sz="2800" b="1" dirty="0">
                <a:solidFill>
                  <a:srgbClr val="1A1A1A"/>
                </a:solidFill>
                <a:latin typeface="Arial" pitchFamily="34" charset="0"/>
                <a:ea typeface="Arial" pitchFamily="34" charset="-122"/>
                <a:cs typeface="Arial" pitchFamily="34" charset="-120"/>
              </a:rPr>
              <a:t>Experiences are still disconnected.</a:t>
            </a:r>
            <a:endParaRPr lang="en-US" sz="2800" dirty="0"/>
          </a:p>
        </p:txBody>
      </p:sp>
      <p:sp>
        <p:nvSpPr>
          <p:cNvPr id="7" name="Shape 5"/>
          <p:cNvSpPr/>
          <p:nvPr/>
        </p:nvSpPr>
        <p:spPr>
          <a:xfrm>
            <a:off x="548640" y="2103120"/>
            <a:ext cx="3520440" cy="3291840"/>
          </a:xfrm>
          <a:prstGeom prst="roundRect">
            <a:avLst>
              <a:gd name="adj" fmla="val 2222"/>
            </a:avLst>
          </a:prstGeom>
          <a:solidFill>
            <a:srgbClr val="F5F0E6"/>
          </a:solidFill>
          <a:ln/>
          <a:effectLst>
            <a:outerShdw sx="100000" sy="100000" kx="0" ky="0" algn="bl" rotWithShape="0" blurRad="127000" dist="38100" dir="8100000">
              <a:srgbClr val="000000">
                <a:alpha val="6000"/>
              </a:srgbClr>
            </a:outerShdw>
          </a:effectLst>
        </p:spPr>
      </p:sp>
      <p:sp>
        <p:nvSpPr>
          <p:cNvPr id="8" name="Shape 6"/>
          <p:cNvSpPr/>
          <p:nvPr/>
        </p:nvSpPr>
        <p:spPr>
          <a:xfrm>
            <a:off x="548640" y="2103120"/>
            <a:ext cx="73152" cy="3291840"/>
          </a:xfrm>
          <a:prstGeom prst="rect">
            <a:avLst/>
          </a:prstGeom>
          <a:solidFill>
            <a:srgbClr val="B85C38"/>
          </a:solidFill>
          <a:ln/>
        </p:spPr>
      </p:sp>
      <p:sp>
        <p:nvSpPr>
          <p:cNvPr id="9" name="Text 7"/>
          <p:cNvSpPr/>
          <p:nvPr/>
        </p:nvSpPr>
        <p:spPr>
          <a:xfrm>
            <a:off x="822960" y="2331720"/>
            <a:ext cx="306324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Edenred-scale platforms</a:t>
            </a:r>
            <a:endParaRPr lang="en-US" sz="1500" dirty="0"/>
          </a:p>
        </p:txBody>
      </p:sp>
      <p:sp>
        <p:nvSpPr>
          <p:cNvPr id="10" name="Text 8"/>
          <p:cNvSpPr/>
          <p:nvPr/>
        </p:nvSpPr>
        <p:spPr>
          <a:xfrm>
            <a:off x="822960" y="3063240"/>
            <a:ext cx="3063240" cy="21031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Excellent at payment rails, scale, and compliance. Still largely start with the product (vouchers, cards, modules) rather than the individual motivator. Personalization remains surface-level.</a:t>
            </a:r>
            <a:endParaRPr lang="en-US" sz="1300" dirty="0"/>
          </a:p>
        </p:txBody>
      </p:sp>
      <p:sp>
        <p:nvSpPr>
          <p:cNvPr id="11" name="Shape 9"/>
          <p:cNvSpPr/>
          <p:nvPr/>
        </p:nvSpPr>
        <p:spPr>
          <a:xfrm>
            <a:off x="4251960" y="2103120"/>
            <a:ext cx="3520440" cy="3291840"/>
          </a:xfrm>
          <a:prstGeom prst="roundRect">
            <a:avLst>
              <a:gd name="adj" fmla="val 2222"/>
            </a:avLst>
          </a:prstGeom>
          <a:solidFill>
            <a:srgbClr val="F5F0E6"/>
          </a:solidFill>
          <a:ln/>
          <a:effectLst>
            <a:outerShdw sx="100000" sy="100000" kx="0" ky="0" algn="bl" rotWithShape="0" blurRad="127000" dist="38100" dir="8100000">
              <a:srgbClr val="000000">
                <a:alpha val="6000"/>
              </a:srgbClr>
            </a:outerShdw>
          </a:effectLst>
        </p:spPr>
      </p:sp>
      <p:sp>
        <p:nvSpPr>
          <p:cNvPr id="12" name="Shape 10"/>
          <p:cNvSpPr/>
          <p:nvPr/>
        </p:nvSpPr>
        <p:spPr>
          <a:xfrm>
            <a:off x="4251960" y="2103120"/>
            <a:ext cx="73152" cy="3291840"/>
          </a:xfrm>
          <a:prstGeom prst="rect">
            <a:avLst/>
          </a:prstGeom>
          <a:solidFill>
            <a:srgbClr val="B85C38"/>
          </a:solidFill>
          <a:ln/>
        </p:spPr>
      </p:sp>
      <p:sp>
        <p:nvSpPr>
          <p:cNvPr id="13" name="Text 11"/>
          <p:cNvSpPr/>
          <p:nvPr/>
        </p:nvSpPr>
        <p:spPr>
          <a:xfrm>
            <a:off x="4526280" y="2331720"/>
            <a:ext cx="306324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Motivation &amp; coaching tools</a:t>
            </a:r>
            <a:endParaRPr lang="en-US" sz="1500" dirty="0"/>
          </a:p>
        </p:txBody>
      </p:sp>
      <p:sp>
        <p:nvSpPr>
          <p:cNvPr id="14" name="Text 12"/>
          <p:cNvSpPr/>
          <p:nvPr/>
        </p:nvSpPr>
        <p:spPr>
          <a:xfrm>
            <a:off x="4526280" y="3063240"/>
            <a:ext cx="3063240" cy="21031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Powerful diagnostics exist, yet they rarely connect to the actual benefits budget or to real-world high-impact experiences that employees will remember for years.</a:t>
            </a:r>
            <a:endParaRPr lang="en-US" sz="1300" dirty="0"/>
          </a:p>
        </p:txBody>
      </p:sp>
      <p:sp>
        <p:nvSpPr>
          <p:cNvPr id="15" name="Shape 13"/>
          <p:cNvSpPr/>
          <p:nvPr/>
        </p:nvSpPr>
        <p:spPr>
          <a:xfrm>
            <a:off x="7955280" y="2103120"/>
            <a:ext cx="3520440" cy="3291840"/>
          </a:xfrm>
          <a:prstGeom prst="roundRect">
            <a:avLst>
              <a:gd name="adj" fmla="val 2222"/>
            </a:avLst>
          </a:prstGeom>
          <a:solidFill>
            <a:srgbClr val="F5F0E6"/>
          </a:solidFill>
          <a:ln/>
          <a:effectLst>
            <a:outerShdw sx="100000" sy="100000" kx="0" ky="0" algn="bl" rotWithShape="0" blurRad="127000" dist="38100" dir="8100000">
              <a:srgbClr val="000000">
                <a:alpha val="6000"/>
              </a:srgbClr>
            </a:outerShdw>
          </a:effectLst>
        </p:spPr>
      </p:sp>
      <p:sp>
        <p:nvSpPr>
          <p:cNvPr id="16" name="Shape 14"/>
          <p:cNvSpPr/>
          <p:nvPr/>
        </p:nvSpPr>
        <p:spPr>
          <a:xfrm>
            <a:off x="7955280" y="2103120"/>
            <a:ext cx="73152" cy="3291840"/>
          </a:xfrm>
          <a:prstGeom prst="rect">
            <a:avLst/>
          </a:prstGeom>
          <a:solidFill>
            <a:srgbClr val="B85C38"/>
          </a:solidFill>
          <a:ln/>
        </p:spPr>
      </p:sp>
      <p:sp>
        <p:nvSpPr>
          <p:cNvPr id="17" name="Text 15"/>
          <p:cNvSpPr/>
          <p:nvPr/>
        </p:nvSpPr>
        <p:spPr>
          <a:xfrm>
            <a:off x="8229600" y="2331720"/>
            <a:ext cx="306324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Corporate retreats</a:t>
            </a:r>
            <a:endParaRPr lang="en-US" sz="1500" dirty="0"/>
          </a:p>
        </p:txBody>
      </p:sp>
      <p:sp>
        <p:nvSpPr>
          <p:cNvPr id="18" name="Text 16"/>
          <p:cNvSpPr/>
          <p:nvPr/>
        </p:nvSpPr>
        <p:spPr>
          <a:xfrm>
            <a:off x="8229600" y="3063240"/>
            <a:ext cx="3063240" cy="21031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Beautiful trips (Chile, Patagonia, etc.) are designed in isolation. They rarely use individual or team motivator data, so ROI is hard to prove and follow-through is weak.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MARKET</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03</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03 / 12</a:t>
            </a:r>
            <a:endParaRPr lang="en-US" sz="900" dirty="0"/>
          </a:p>
        </p:txBody>
      </p:sp>
      <p:sp>
        <p:nvSpPr>
          <p:cNvPr id="6" name="Text 4"/>
          <p:cNvSpPr/>
          <p:nvPr/>
        </p:nvSpPr>
        <p:spPr>
          <a:xfrm>
            <a:off x="548640" y="777240"/>
            <a:ext cx="10972800" cy="54864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Two large budgets, one missing bridge</a:t>
            </a:r>
            <a:endParaRPr lang="en-US" sz="2800" dirty="0"/>
          </a:p>
        </p:txBody>
      </p:sp>
      <p:sp>
        <p:nvSpPr>
          <p:cNvPr id="7" name="Text 5"/>
          <p:cNvSpPr/>
          <p:nvPr/>
        </p:nvSpPr>
        <p:spPr>
          <a:xfrm>
            <a:off x="548640" y="1645920"/>
            <a:ext cx="2651760" cy="640080"/>
          </a:xfrm>
          <a:prstGeom prst="rect">
            <a:avLst/>
          </a:prstGeom>
          <a:noFill/>
          <a:ln/>
        </p:spPr>
        <p:txBody>
          <a:bodyPr wrap="square" lIns="0" tIns="0" rIns="0" bIns="0" rtlCol="0" anchor="ctr"/>
          <a:lstStyle/>
          <a:p>
            <a:pPr indent="0" marL="0">
              <a:buNone/>
            </a:pPr>
            <a:r>
              <a:rPr lang="en-US" sz="3200" b="1" dirty="0">
                <a:solidFill>
                  <a:srgbClr val="B85C38"/>
                </a:solidFill>
                <a:latin typeface="Arial" pitchFamily="34" charset="0"/>
                <a:ea typeface="Arial" pitchFamily="34" charset="-122"/>
                <a:cs typeface="Arial" pitchFamily="34" charset="-120"/>
              </a:rPr>
              <a:t>€49B+</a:t>
            </a:r>
            <a:endParaRPr lang="en-US" sz="3200" dirty="0"/>
          </a:p>
        </p:txBody>
      </p:sp>
      <p:sp>
        <p:nvSpPr>
          <p:cNvPr id="8" name="Text 6"/>
          <p:cNvSpPr/>
          <p:nvPr/>
        </p:nvSpPr>
        <p:spPr>
          <a:xfrm>
            <a:off x="548640" y="2331720"/>
            <a:ext cx="2651760" cy="7315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Edenred business volume</a:t>
            </a:r>
            <a:endParaRPr lang="en-US" sz="1300" dirty="0"/>
          </a:p>
          <a:p>
            <a:pPr indent="0" marL="0">
              <a:buNone/>
            </a:pPr>
            <a:r>
              <a:rPr lang="en-US" sz="1300" dirty="0">
                <a:solidFill>
                  <a:srgbClr val="7A756D"/>
                </a:solidFill>
                <a:latin typeface="Arial" pitchFamily="34" charset="0"/>
                <a:ea typeface="Arial" pitchFamily="34" charset="-122"/>
                <a:cs typeface="Arial" pitchFamily="34" charset="-120"/>
              </a:rPr>
              <a:t>(2025)</a:t>
            </a:r>
            <a:endParaRPr lang="en-US" sz="1300" dirty="0"/>
          </a:p>
        </p:txBody>
      </p:sp>
      <p:sp>
        <p:nvSpPr>
          <p:cNvPr id="9" name="Text 7"/>
          <p:cNvSpPr/>
          <p:nvPr/>
        </p:nvSpPr>
        <p:spPr>
          <a:xfrm>
            <a:off x="3429000" y="1645920"/>
            <a:ext cx="2651760" cy="640080"/>
          </a:xfrm>
          <a:prstGeom prst="rect">
            <a:avLst/>
          </a:prstGeom>
          <a:noFill/>
          <a:ln/>
        </p:spPr>
        <p:txBody>
          <a:bodyPr wrap="square" lIns="0" tIns="0" rIns="0" bIns="0" rtlCol="0" anchor="ctr"/>
          <a:lstStyle/>
          <a:p>
            <a:pPr indent="0" marL="0">
              <a:buNone/>
            </a:pPr>
            <a:r>
              <a:rPr lang="en-US" sz="3200" b="1" dirty="0">
                <a:solidFill>
                  <a:srgbClr val="B85C38"/>
                </a:solidFill>
                <a:latin typeface="Arial" pitchFamily="34" charset="0"/>
                <a:ea typeface="Arial" pitchFamily="34" charset="-122"/>
                <a:cs typeface="Arial" pitchFamily="34" charset="-120"/>
              </a:rPr>
              <a:t>60M+</a:t>
            </a:r>
            <a:endParaRPr lang="en-US" sz="3200" dirty="0"/>
          </a:p>
        </p:txBody>
      </p:sp>
      <p:sp>
        <p:nvSpPr>
          <p:cNvPr id="10" name="Text 8"/>
          <p:cNvSpPr/>
          <p:nvPr/>
        </p:nvSpPr>
        <p:spPr>
          <a:xfrm>
            <a:off x="3429000" y="2331720"/>
            <a:ext cx="2651760" cy="7315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Employees already on</a:t>
            </a:r>
            <a:endParaRPr lang="en-US" sz="1300" dirty="0"/>
          </a:p>
          <a:p>
            <a:pPr indent="0" marL="0">
              <a:buNone/>
            </a:pPr>
            <a:r>
              <a:rPr lang="en-US" sz="1300" dirty="0">
                <a:solidFill>
                  <a:srgbClr val="7A756D"/>
                </a:solidFill>
                <a:latin typeface="Arial" pitchFamily="34" charset="0"/>
                <a:ea typeface="Arial" pitchFamily="34" charset="-122"/>
                <a:cs typeface="Arial" pitchFamily="34" charset="-120"/>
              </a:rPr>
              <a:t>benefits platforms</a:t>
            </a:r>
            <a:endParaRPr lang="en-US" sz="1300" dirty="0"/>
          </a:p>
        </p:txBody>
      </p:sp>
      <p:sp>
        <p:nvSpPr>
          <p:cNvPr id="11" name="Text 9"/>
          <p:cNvSpPr/>
          <p:nvPr/>
        </p:nvSpPr>
        <p:spPr>
          <a:xfrm>
            <a:off x="6309360" y="1645920"/>
            <a:ext cx="2651760" cy="640080"/>
          </a:xfrm>
          <a:prstGeom prst="rect">
            <a:avLst/>
          </a:prstGeom>
          <a:noFill/>
          <a:ln/>
        </p:spPr>
        <p:txBody>
          <a:bodyPr wrap="square" lIns="0" tIns="0" rIns="0" bIns="0" rtlCol="0" anchor="ctr"/>
          <a:lstStyle/>
          <a:p>
            <a:pPr indent="0" marL="0">
              <a:buNone/>
            </a:pPr>
            <a:r>
              <a:rPr lang="en-US" sz="3200" b="1" dirty="0">
                <a:solidFill>
                  <a:srgbClr val="B85C38"/>
                </a:solidFill>
                <a:latin typeface="Arial" pitchFamily="34" charset="0"/>
                <a:ea typeface="Arial" pitchFamily="34" charset="-122"/>
                <a:cs typeface="Arial" pitchFamily="34" charset="-120"/>
              </a:rPr>
              <a:t>↑</a:t>
            </a:r>
            <a:endParaRPr lang="en-US" sz="3200" dirty="0"/>
          </a:p>
        </p:txBody>
      </p:sp>
      <p:sp>
        <p:nvSpPr>
          <p:cNvPr id="12" name="Text 10"/>
          <p:cNvSpPr/>
          <p:nvPr/>
        </p:nvSpPr>
        <p:spPr>
          <a:xfrm>
            <a:off x="6309360" y="2331720"/>
            <a:ext cx="2651760" cy="7315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Experiential rewards &amp;</a:t>
            </a:r>
            <a:endParaRPr lang="en-US" sz="1300" dirty="0"/>
          </a:p>
          <a:p>
            <a:pPr indent="0" marL="0">
              <a:buNone/>
            </a:pPr>
            <a:r>
              <a:rPr lang="en-US" sz="1300" dirty="0">
                <a:solidFill>
                  <a:srgbClr val="7A756D"/>
                </a:solidFill>
                <a:latin typeface="Arial" pitchFamily="34" charset="0"/>
                <a:ea typeface="Arial" pitchFamily="34" charset="-122"/>
                <a:cs typeface="Arial" pitchFamily="34" charset="-120"/>
              </a:rPr>
              <a:t>retreats rising fast</a:t>
            </a:r>
            <a:endParaRPr lang="en-US" sz="1300" dirty="0"/>
          </a:p>
        </p:txBody>
      </p:sp>
      <p:sp>
        <p:nvSpPr>
          <p:cNvPr id="13" name="Text 11"/>
          <p:cNvSpPr/>
          <p:nvPr/>
        </p:nvSpPr>
        <p:spPr>
          <a:xfrm>
            <a:off x="9189720" y="1645920"/>
            <a:ext cx="2651760" cy="640080"/>
          </a:xfrm>
          <a:prstGeom prst="rect">
            <a:avLst/>
          </a:prstGeom>
          <a:noFill/>
          <a:ln/>
        </p:spPr>
        <p:txBody>
          <a:bodyPr wrap="square" lIns="0" tIns="0" rIns="0" bIns="0" rtlCol="0" anchor="ctr"/>
          <a:lstStyle/>
          <a:p>
            <a:pPr indent="0" marL="0">
              <a:buNone/>
            </a:pPr>
            <a:r>
              <a:rPr lang="en-US" sz="3200" b="1" dirty="0">
                <a:solidFill>
                  <a:srgbClr val="B85C38"/>
                </a:solidFill>
                <a:latin typeface="Arial" pitchFamily="34" charset="0"/>
                <a:ea typeface="Arial" pitchFamily="34" charset="-122"/>
                <a:cs typeface="Arial" pitchFamily="34" charset="-120"/>
              </a:rPr>
              <a:t>18%</a:t>
            </a:r>
            <a:endParaRPr lang="en-US" sz="3200" dirty="0"/>
          </a:p>
        </p:txBody>
      </p:sp>
      <p:sp>
        <p:nvSpPr>
          <p:cNvPr id="14" name="Text 12"/>
          <p:cNvSpPr/>
          <p:nvPr/>
        </p:nvSpPr>
        <p:spPr>
          <a:xfrm>
            <a:off x="9189720" y="2331720"/>
            <a:ext cx="2651760" cy="73152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Productivity loss from</a:t>
            </a:r>
            <a:endParaRPr lang="en-US" sz="1300" dirty="0"/>
          </a:p>
          <a:p>
            <a:pPr indent="0" marL="0">
              <a:buNone/>
            </a:pPr>
            <a:r>
              <a:rPr lang="en-US" sz="1300" dirty="0">
                <a:solidFill>
                  <a:srgbClr val="7A756D"/>
                </a:solidFill>
                <a:latin typeface="Arial" pitchFamily="34" charset="0"/>
                <a:ea typeface="Arial" pitchFamily="34" charset="-122"/>
                <a:cs typeface="Arial" pitchFamily="34" charset="-120"/>
              </a:rPr>
              <a:t>unmotivated employees</a:t>
            </a:r>
            <a:endParaRPr lang="en-US" sz="1300" dirty="0"/>
          </a:p>
        </p:txBody>
      </p:sp>
      <p:sp>
        <p:nvSpPr>
          <p:cNvPr id="15" name="Shape 13"/>
          <p:cNvSpPr/>
          <p:nvPr/>
        </p:nvSpPr>
        <p:spPr>
          <a:xfrm>
            <a:off x="548640" y="3291840"/>
            <a:ext cx="11064240" cy="13716"/>
          </a:xfrm>
          <a:prstGeom prst="rect">
            <a:avLst/>
          </a:prstGeom>
          <a:solidFill>
            <a:srgbClr val="CFC7B9"/>
          </a:solidFill>
          <a:ln/>
        </p:spPr>
      </p:sp>
      <p:sp>
        <p:nvSpPr>
          <p:cNvPr id="16" name="Text 14"/>
          <p:cNvSpPr/>
          <p:nvPr/>
        </p:nvSpPr>
        <p:spPr>
          <a:xfrm>
            <a:off x="548640" y="3566160"/>
            <a:ext cx="11064240" cy="1097280"/>
          </a:xfrm>
          <a:prstGeom prst="rect">
            <a:avLst/>
          </a:prstGeom>
          <a:noFill/>
          <a:ln/>
        </p:spPr>
        <p:txBody>
          <a:bodyPr wrap="square" lIns="0" tIns="0" rIns="0" bIns="0" rtlCol="0" anchor="ctr"/>
          <a:lstStyle/>
          <a:p>
            <a:pPr indent="0" marL="0">
              <a:buNone/>
            </a:pPr>
            <a:r>
              <a:rPr lang="en-US" sz="1600" dirty="0">
                <a:solidFill>
                  <a:srgbClr val="1A1A1A"/>
                </a:solidFill>
                <a:latin typeface="Arial" pitchFamily="34" charset="0"/>
                <a:ea typeface="Arial" pitchFamily="34" charset="-122"/>
                <a:cs typeface="Arial" pitchFamily="34" charset="-120"/>
              </a:rPr>
              <a:t>The gap: companies spend on both benefits and offsites, yet the two rarely talk to each other. Motivation data sits unused. Experiences are designed without it. Employees get generic perks and generic trips.</a:t>
            </a:r>
            <a:endParaRPr lang="en-US" sz="1600" dirty="0"/>
          </a:p>
        </p:txBody>
      </p:sp>
      <p:sp>
        <p:nvSpPr>
          <p:cNvPr id="17" name="Text 15"/>
          <p:cNvSpPr/>
          <p:nvPr/>
        </p:nvSpPr>
        <p:spPr>
          <a:xfrm>
            <a:off x="548640" y="4846320"/>
            <a:ext cx="11064240" cy="640080"/>
          </a:xfrm>
          <a:prstGeom prst="rect">
            <a:avLst/>
          </a:prstGeom>
          <a:noFill/>
          <a:ln/>
        </p:spPr>
        <p:txBody>
          <a:bodyPr wrap="square" lIns="0" tIns="0" rIns="0" bIns="0" rtlCol="0" anchor="ctr"/>
          <a:lstStyle/>
          <a:p>
            <a:pPr indent="0" marL="0">
              <a:buNone/>
            </a:pPr>
            <a:r>
              <a:rPr lang="en-US" sz="1600" b="1" dirty="0">
                <a:solidFill>
                  <a:srgbClr val="B85C38"/>
                </a:solidFill>
                <a:latin typeface="Arial" pitchFamily="34" charset="0"/>
                <a:ea typeface="Arial" pitchFamily="34" charset="-122"/>
                <a:cs typeface="Arial" pitchFamily="34" charset="-120"/>
              </a:rPr>
              <a:t>Motive closes the loop: diagnose → personalize benefits → design intentional experiences → measure impact → repeat.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SOLUTION</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04</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04 / 12</a:t>
            </a:r>
            <a:endParaRPr lang="en-US" sz="900" dirty="0"/>
          </a:p>
        </p:txBody>
      </p:sp>
      <p:sp>
        <p:nvSpPr>
          <p:cNvPr id="6" name="Text 4"/>
          <p:cNvSpPr/>
          <p:nvPr/>
        </p:nvSpPr>
        <p:spPr>
          <a:xfrm>
            <a:off x="548640" y="777240"/>
            <a:ext cx="10972800" cy="5029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One platform. Two connected layers.</a:t>
            </a:r>
            <a:endParaRPr lang="en-US" sz="2800" dirty="0"/>
          </a:p>
        </p:txBody>
      </p:sp>
      <p:sp>
        <p:nvSpPr>
          <p:cNvPr id="7" name="Shape 5"/>
          <p:cNvSpPr/>
          <p:nvPr/>
        </p:nvSpPr>
        <p:spPr>
          <a:xfrm>
            <a:off x="548640" y="1554480"/>
            <a:ext cx="5394960" cy="4114800"/>
          </a:xfrm>
          <a:prstGeom prst="roundRect">
            <a:avLst>
              <a:gd name="adj" fmla="val 2222"/>
            </a:avLst>
          </a:prstGeom>
          <a:solidFill>
            <a:srgbClr val="F5F0E6"/>
          </a:solidFill>
          <a:ln/>
        </p:spPr>
      </p:sp>
      <p:sp>
        <p:nvSpPr>
          <p:cNvPr id="8" name="Text 6"/>
          <p:cNvSpPr/>
          <p:nvPr/>
        </p:nvSpPr>
        <p:spPr>
          <a:xfrm>
            <a:off x="914400" y="1828800"/>
            <a:ext cx="4663440" cy="320040"/>
          </a:xfrm>
          <a:prstGeom prst="rect">
            <a:avLst/>
          </a:prstGeom>
          <a:noFill/>
          <a:ln/>
        </p:spPr>
        <p:txBody>
          <a:bodyPr wrap="square" lIns="0" tIns="0" rIns="0" bIns="0" rtlCol="0" anchor="ctr"/>
          <a:lstStyle/>
          <a:p>
            <a:pPr indent="0" marL="0">
              <a:buNone/>
            </a:pPr>
            <a:r>
              <a:rPr lang="en-US" sz="1200" b="1" spc="200" kern="0" dirty="0">
                <a:solidFill>
                  <a:srgbClr val="B85C38"/>
                </a:solidFill>
                <a:latin typeface="Arial" pitchFamily="34" charset="0"/>
                <a:ea typeface="Arial" pitchFamily="34" charset="-122"/>
                <a:cs typeface="Arial" pitchFamily="34" charset="-120"/>
              </a:rPr>
              <a:t>01  DAILY LAYER</a:t>
            </a:r>
            <a:endParaRPr lang="en-US" sz="1200" dirty="0"/>
          </a:p>
        </p:txBody>
      </p:sp>
      <p:sp>
        <p:nvSpPr>
          <p:cNvPr id="9" name="Text 7"/>
          <p:cNvSpPr/>
          <p:nvPr/>
        </p:nvSpPr>
        <p:spPr>
          <a:xfrm>
            <a:off x="914400" y="2240280"/>
            <a:ext cx="4663440" cy="411480"/>
          </a:xfrm>
          <a:prstGeom prst="rect">
            <a:avLst/>
          </a:prstGeom>
          <a:noFill/>
          <a:ln/>
        </p:spPr>
        <p:txBody>
          <a:bodyPr wrap="square" lIns="0" tIns="0" rIns="0" bIns="0" rtlCol="0" anchor="ctr"/>
          <a:lstStyle/>
          <a:p>
            <a:pPr indent="0" marL="0">
              <a:buNone/>
            </a:pPr>
            <a:r>
              <a:rPr lang="en-US" sz="2000" b="1" dirty="0">
                <a:solidFill>
                  <a:srgbClr val="1A1A1A"/>
                </a:solidFill>
                <a:latin typeface="Arial" pitchFamily="34" charset="0"/>
                <a:ea typeface="Arial" pitchFamily="34" charset="-122"/>
                <a:cs typeface="Arial" pitchFamily="34" charset="-120"/>
              </a:rPr>
              <a:t>Motivation-driven benefits</a:t>
            </a:r>
            <a:endParaRPr lang="en-US" sz="2000" dirty="0"/>
          </a:p>
        </p:txBody>
      </p:sp>
      <p:sp>
        <p:nvSpPr>
          <p:cNvPr id="10" name="Text 8"/>
          <p:cNvSpPr/>
          <p:nvPr/>
        </p:nvSpPr>
        <p:spPr>
          <a:xfrm>
            <a:off x="914400" y="2834640"/>
            <a:ext cx="4663440" cy="164592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Hyper-personalized flexible benefits, lifestyle spending accounts, recognition, and wellness options that are recommended and funded according to each employee’s actual motivators — not generic modules.</a:t>
            </a:r>
            <a:endParaRPr lang="en-US" sz="1400" dirty="0"/>
          </a:p>
        </p:txBody>
      </p:sp>
      <p:sp>
        <p:nvSpPr>
          <p:cNvPr id="11" name="Text 9"/>
          <p:cNvSpPr/>
          <p:nvPr/>
        </p:nvSpPr>
        <p:spPr>
          <a:xfrm>
            <a:off x="914400" y="4754880"/>
            <a:ext cx="4663440" cy="548640"/>
          </a:xfrm>
          <a:prstGeom prst="rect">
            <a:avLst/>
          </a:prstGeom>
          <a:noFill/>
          <a:ln/>
        </p:spPr>
        <p:txBody>
          <a:bodyPr wrap="square" lIns="0" tIns="0" rIns="0" bIns="0" rtlCol="0" anchor="ctr"/>
          <a:lstStyle/>
          <a:p>
            <a:pPr indent="0" marL="0">
              <a:buNone/>
            </a:pPr>
            <a:r>
              <a:rPr lang="en-US" sz="1300" i="1" dirty="0">
                <a:solidFill>
                  <a:srgbClr val="1A1A1A"/>
                </a:solidFill>
                <a:latin typeface="Arial" pitchFamily="34" charset="0"/>
                <a:ea typeface="Arial" pitchFamily="34" charset="-122"/>
                <a:cs typeface="Arial" pitchFamily="34" charset="-120"/>
              </a:rPr>
              <a:t>Powered by Motivation Map diagnostic + Edenred-level product knowledge.</a:t>
            </a:r>
            <a:endParaRPr lang="en-US" sz="1300" dirty="0"/>
          </a:p>
        </p:txBody>
      </p:sp>
      <p:sp>
        <p:nvSpPr>
          <p:cNvPr id="12" name="Shape 10"/>
          <p:cNvSpPr/>
          <p:nvPr/>
        </p:nvSpPr>
        <p:spPr>
          <a:xfrm>
            <a:off x="6309360" y="1554480"/>
            <a:ext cx="5394960" cy="4114800"/>
          </a:xfrm>
          <a:prstGeom prst="roundRect">
            <a:avLst>
              <a:gd name="adj" fmla="val 2222"/>
            </a:avLst>
          </a:prstGeom>
          <a:solidFill>
            <a:srgbClr val="F5F0E6"/>
          </a:solidFill>
          <a:ln/>
        </p:spPr>
      </p:sp>
      <p:sp>
        <p:nvSpPr>
          <p:cNvPr id="13" name="Text 11"/>
          <p:cNvSpPr/>
          <p:nvPr/>
        </p:nvSpPr>
        <p:spPr>
          <a:xfrm>
            <a:off x="6675120" y="1828800"/>
            <a:ext cx="4663440" cy="320040"/>
          </a:xfrm>
          <a:prstGeom prst="rect">
            <a:avLst/>
          </a:prstGeom>
          <a:noFill/>
          <a:ln/>
        </p:spPr>
        <p:txBody>
          <a:bodyPr wrap="square" lIns="0" tIns="0" rIns="0" bIns="0" rtlCol="0" anchor="ctr"/>
          <a:lstStyle/>
          <a:p>
            <a:pPr indent="0" marL="0">
              <a:buNone/>
            </a:pPr>
            <a:r>
              <a:rPr lang="en-US" sz="1200" b="1" spc="200" kern="0" dirty="0">
                <a:solidFill>
                  <a:srgbClr val="B85C38"/>
                </a:solidFill>
                <a:latin typeface="Arial" pitchFamily="34" charset="0"/>
                <a:ea typeface="Arial" pitchFamily="34" charset="-122"/>
                <a:cs typeface="Arial" pitchFamily="34" charset="-120"/>
              </a:rPr>
              <a:t>02  PEAK LAYER</a:t>
            </a:r>
            <a:endParaRPr lang="en-US" sz="1200" dirty="0"/>
          </a:p>
        </p:txBody>
      </p:sp>
      <p:sp>
        <p:nvSpPr>
          <p:cNvPr id="14" name="Text 12"/>
          <p:cNvSpPr/>
          <p:nvPr/>
        </p:nvSpPr>
        <p:spPr>
          <a:xfrm>
            <a:off x="6675120" y="2240280"/>
            <a:ext cx="4663440" cy="411480"/>
          </a:xfrm>
          <a:prstGeom prst="rect">
            <a:avLst/>
          </a:prstGeom>
          <a:noFill/>
          <a:ln/>
        </p:spPr>
        <p:txBody>
          <a:bodyPr wrap="square" lIns="0" tIns="0" rIns="0" bIns="0" rtlCol="0" anchor="ctr"/>
          <a:lstStyle/>
          <a:p>
            <a:pPr indent="0" marL="0">
              <a:buNone/>
            </a:pPr>
            <a:r>
              <a:rPr lang="en-US" sz="2000" b="1" dirty="0">
                <a:solidFill>
                  <a:srgbClr val="1A1A1A"/>
                </a:solidFill>
                <a:latin typeface="Arial" pitchFamily="34" charset="0"/>
                <a:ea typeface="Arial" pitchFamily="34" charset="-122"/>
                <a:cs typeface="Arial" pitchFamily="34" charset="-120"/>
              </a:rPr>
              <a:t>Intentional experiences</a:t>
            </a:r>
            <a:endParaRPr lang="en-US" sz="2000" dirty="0"/>
          </a:p>
        </p:txBody>
      </p:sp>
      <p:sp>
        <p:nvSpPr>
          <p:cNvPr id="15" name="Text 13"/>
          <p:cNvSpPr/>
          <p:nvPr/>
        </p:nvSpPr>
        <p:spPr>
          <a:xfrm>
            <a:off x="6675120" y="2834640"/>
            <a:ext cx="4663440" cy="164592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Curated corporate retreats and individual experiential rewards designed from the same motivator data. Signature destinations (starting with Chile) become high-emotion, high-ROI moments that reinforce the daily benefits story.</a:t>
            </a:r>
            <a:endParaRPr lang="en-US" sz="1400" dirty="0"/>
          </a:p>
        </p:txBody>
      </p:sp>
      <p:sp>
        <p:nvSpPr>
          <p:cNvPr id="16" name="Text 14"/>
          <p:cNvSpPr/>
          <p:nvPr/>
        </p:nvSpPr>
        <p:spPr>
          <a:xfrm>
            <a:off x="6675120" y="4754880"/>
            <a:ext cx="4663440" cy="548640"/>
          </a:xfrm>
          <a:prstGeom prst="rect">
            <a:avLst/>
          </a:prstGeom>
          <a:noFill/>
          <a:ln/>
        </p:spPr>
        <p:txBody>
          <a:bodyPr wrap="square" lIns="0" tIns="0" rIns="0" bIns="0" rtlCol="0" anchor="ctr"/>
          <a:lstStyle/>
          <a:p>
            <a:pPr indent="0" marL="0">
              <a:buNone/>
            </a:pPr>
            <a:r>
              <a:rPr lang="en-US" sz="1300" i="1" dirty="0">
                <a:solidFill>
                  <a:srgbClr val="1A1A1A"/>
                </a:solidFill>
                <a:latin typeface="Arial" pitchFamily="34" charset="0"/>
                <a:ea typeface="Arial" pitchFamily="34" charset="-122"/>
                <a:cs typeface="Arial" pitchFamily="34" charset="-120"/>
              </a:rPr>
              <a:t>Delivered by the retreat specialist with Motivation Map alignment.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THE TEAM</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05</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05 / 12</a:t>
            </a:r>
            <a:endParaRPr lang="en-US" sz="900" dirty="0"/>
          </a:p>
        </p:txBody>
      </p:sp>
      <p:sp>
        <p:nvSpPr>
          <p:cNvPr id="6" name="Text 4"/>
          <p:cNvSpPr/>
          <p:nvPr/>
        </p:nvSpPr>
        <p:spPr>
          <a:xfrm>
            <a:off x="548640" y="777240"/>
            <a:ext cx="10972800" cy="50292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Three complementary strengths. One company.</a:t>
            </a:r>
            <a:endParaRPr lang="en-US" sz="2600" dirty="0"/>
          </a:p>
        </p:txBody>
      </p:sp>
      <p:sp>
        <p:nvSpPr>
          <p:cNvPr id="7" name="Shape 5"/>
          <p:cNvSpPr/>
          <p:nvPr/>
        </p:nvSpPr>
        <p:spPr>
          <a:xfrm>
            <a:off x="548640" y="1554480"/>
            <a:ext cx="3566160" cy="4114800"/>
          </a:xfrm>
          <a:prstGeom prst="roundRect">
            <a:avLst>
              <a:gd name="adj" fmla="val 2564"/>
            </a:avLst>
          </a:prstGeom>
          <a:solidFill>
            <a:srgbClr val="F5F0E6"/>
          </a:solidFill>
          <a:ln/>
        </p:spPr>
      </p:sp>
      <p:sp>
        <p:nvSpPr>
          <p:cNvPr id="8" name="Text 6"/>
          <p:cNvSpPr/>
          <p:nvPr/>
        </p:nvSpPr>
        <p:spPr>
          <a:xfrm>
            <a:off x="822960" y="1828800"/>
            <a:ext cx="3017520" cy="36576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Motivation Map</a:t>
            </a:r>
            <a:endParaRPr lang="en-US" sz="1400" dirty="0"/>
          </a:p>
        </p:txBody>
      </p:sp>
      <p:sp>
        <p:nvSpPr>
          <p:cNvPr id="9" name="Text 7"/>
          <p:cNvSpPr/>
          <p:nvPr/>
        </p:nvSpPr>
        <p:spPr>
          <a:xfrm>
            <a:off x="822960" y="2240280"/>
            <a:ext cx="3017520" cy="45720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Founder of motivationmap.io</a:t>
            </a:r>
            <a:endParaRPr lang="en-US" sz="1600" dirty="0"/>
          </a:p>
        </p:txBody>
      </p:sp>
      <p:sp>
        <p:nvSpPr>
          <p:cNvPr id="10" name="Text 8"/>
          <p:cNvSpPr/>
          <p:nvPr/>
        </p:nvSpPr>
        <p:spPr>
          <a:xfrm>
            <a:off x="822960" y="292608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Core human motives diagnostic</a:t>
            </a:r>
            <a:endParaRPr lang="en-US" sz="1300" dirty="0"/>
          </a:p>
        </p:txBody>
      </p:sp>
      <p:sp>
        <p:nvSpPr>
          <p:cNvPr id="11" name="Text 9"/>
          <p:cNvSpPr/>
          <p:nvPr/>
        </p:nvSpPr>
        <p:spPr>
          <a:xfrm>
            <a:off x="822960" y="342900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Intentional travel as leadership catalyst</a:t>
            </a:r>
            <a:endParaRPr lang="en-US" sz="1300" dirty="0"/>
          </a:p>
        </p:txBody>
      </p:sp>
      <p:sp>
        <p:nvSpPr>
          <p:cNvPr id="12" name="Text 10"/>
          <p:cNvSpPr/>
          <p:nvPr/>
        </p:nvSpPr>
        <p:spPr>
          <a:xfrm>
            <a:off x="822960" y="393192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600+ clients, 57 countries</a:t>
            </a:r>
            <a:endParaRPr lang="en-US" sz="1300" dirty="0"/>
          </a:p>
        </p:txBody>
      </p:sp>
      <p:sp>
        <p:nvSpPr>
          <p:cNvPr id="13" name="Text 11"/>
          <p:cNvSpPr/>
          <p:nvPr/>
        </p:nvSpPr>
        <p:spPr>
          <a:xfrm>
            <a:off x="822960" y="443484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Emotional clarity &amp; aligned action</a:t>
            </a:r>
            <a:endParaRPr lang="en-US" sz="1300" dirty="0"/>
          </a:p>
        </p:txBody>
      </p:sp>
      <p:sp>
        <p:nvSpPr>
          <p:cNvPr id="14" name="Shape 12"/>
          <p:cNvSpPr/>
          <p:nvPr/>
        </p:nvSpPr>
        <p:spPr>
          <a:xfrm>
            <a:off x="4297680" y="1554480"/>
            <a:ext cx="3566160" cy="4114800"/>
          </a:xfrm>
          <a:prstGeom prst="roundRect">
            <a:avLst>
              <a:gd name="adj" fmla="val 2564"/>
            </a:avLst>
          </a:prstGeom>
          <a:solidFill>
            <a:srgbClr val="2B2824"/>
          </a:solidFill>
          <a:ln/>
        </p:spPr>
      </p:sp>
      <p:sp>
        <p:nvSpPr>
          <p:cNvPr id="15" name="Text 13"/>
          <p:cNvSpPr/>
          <p:nvPr/>
        </p:nvSpPr>
        <p:spPr>
          <a:xfrm>
            <a:off x="4572000" y="1828800"/>
            <a:ext cx="3017520" cy="36576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Benefits Insider</a:t>
            </a:r>
            <a:endParaRPr lang="en-US" sz="1400" dirty="0"/>
          </a:p>
        </p:txBody>
      </p:sp>
      <p:sp>
        <p:nvSpPr>
          <p:cNvPr id="16" name="Text 14"/>
          <p:cNvSpPr/>
          <p:nvPr/>
        </p:nvSpPr>
        <p:spPr>
          <a:xfrm>
            <a:off x="4572000" y="2240280"/>
            <a:ext cx="3017520" cy="457200"/>
          </a:xfrm>
          <a:prstGeom prst="rect">
            <a:avLst/>
          </a:prstGeom>
          <a:noFill/>
          <a:ln/>
        </p:spPr>
        <p:txBody>
          <a:bodyPr wrap="square" lIns="0" tIns="0" rIns="0" bIns="0" rtlCol="0" anchor="ctr"/>
          <a:lstStyle/>
          <a:p>
            <a:pPr indent="0" marL="0">
              <a:buNone/>
            </a:pPr>
            <a:r>
              <a:rPr lang="en-US" sz="1600" b="1" dirty="0">
                <a:solidFill>
                  <a:srgbClr val="EFEAE0"/>
                </a:solidFill>
                <a:latin typeface="Arial" pitchFamily="34" charset="0"/>
                <a:ea typeface="Arial" pitchFamily="34" charset="-122"/>
                <a:cs typeface="Arial" pitchFamily="34" charset="-120"/>
              </a:rPr>
              <a:t>Currently at Edenred</a:t>
            </a:r>
            <a:endParaRPr lang="en-US" sz="1600" dirty="0"/>
          </a:p>
        </p:txBody>
      </p:sp>
      <p:sp>
        <p:nvSpPr>
          <p:cNvPr id="17" name="Text 15"/>
          <p:cNvSpPr/>
          <p:nvPr/>
        </p:nvSpPr>
        <p:spPr>
          <a:xfrm>
            <a:off x="4572000" y="2926080"/>
            <a:ext cx="3017520" cy="45720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Deep product &amp; market knowledge</a:t>
            </a:r>
            <a:endParaRPr lang="en-US" sz="1300" dirty="0"/>
          </a:p>
        </p:txBody>
      </p:sp>
      <p:sp>
        <p:nvSpPr>
          <p:cNvPr id="18" name="Text 16"/>
          <p:cNvSpPr/>
          <p:nvPr/>
        </p:nvSpPr>
        <p:spPr>
          <a:xfrm>
            <a:off x="4572000" y="3429000"/>
            <a:ext cx="3017520" cy="45720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Buyer pain points &amp; sales motion</a:t>
            </a:r>
            <a:endParaRPr lang="en-US" sz="1300" dirty="0"/>
          </a:p>
        </p:txBody>
      </p:sp>
      <p:sp>
        <p:nvSpPr>
          <p:cNvPr id="19" name="Text 17"/>
          <p:cNvSpPr/>
          <p:nvPr/>
        </p:nvSpPr>
        <p:spPr>
          <a:xfrm>
            <a:off x="4572000" y="3931920"/>
            <a:ext cx="3017520" cy="45720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Compliance &amp; platform realities</a:t>
            </a:r>
            <a:endParaRPr lang="en-US" sz="1300" dirty="0"/>
          </a:p>
        </p:txBody>
      </p:sp>
      <p:sp>
        <p:nvSpPr>
          <p:cNvPr id="20" name="Text 18"/>
          <p:cNvSpPr/>
          <p:nvPr/>
        </p:nvSpPr>
        <p:spPr>
          <a:xfrm>
            <a:off x="4572000" y="4434840"/>
            <a:ext cx="3017520" cy="45720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Network inside the category leader</a:t>
            </a:r>
            <a:endParaRPr lang="en-US" sz="1300" dirty="0"/>
          </a:p>
        </p:txBody>
      </p:sp>
      <p:sp>
        <p:nvSpPr>
          <p:cNvPr id="21" name="Shape 19"/>
          <p:cNvSpPr/>
          <p:nvPr/>
        </p:nvSpPr>
        <p:spPr>
          <a:xfrm>
            <a:off x="8046720" y="1554480"/>
            <a:ext cx="3566160" cy="4114800"/>
          </a:xfrm>
          <a:prstGeom prst="roundRect">
            <a:avLst>
              <a:gd name="adj" fmla="val 2564"/>
            </a:avLst>
          </a:prstGeom>
          <a:solidFill>
            <a:srgbClr val="F5F0E6"/>
          </a:solidFill>
          <a:ln/>
        </p:spPr>
      </p:sp>
      <p:sp>
        <p:nvSpPr>
          <p:cNvPr id="22" name="Text 20"/>
          <p:cNvSpPr/>
          <p:nvPr/>
        </p:nvSpPr>
        <p:spPr>
          <a:xfrm>
            <a:off x="8321040" y="1828800"/>
            <a:ext cx="3017520" cy="36576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Retreat Delivery</a:t>
            </a:r>
            <a:endParaRPr lang="en-US" sz="1400" dirty="0"/>
          </a:p>
        </p:txBody>
      </p:sp>
      <p:sp>
        <p:nvSpPr>
          <p:cNvPr id="23" name="Text 21"/>
          <p:cNvSpPr/>
          <p:nvPr/>
        </p:nvSpPr>
        <p:spPr>
          <a:xfrm>
            <a:off x="8321040" y="2240280"/>
            <a:ext cx="3017520" cy="45720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Corporate retreat specialist</a:t>
            </a:r>
            <a:endParaRPr lang="en-US" sz="1600" dirty="0"/>
          </a:p>
        </p:txBody>
      </p:sp>
      <p:sp>
        <p:nvSpPr>
          <p:cNvPr id="24" name="Text 22"/>
          <p:cNvSpPr/>
          <p:nvPr/>
        </p:nvSpPr>
        <p:spPr>
          <a:xfrm>
            <a:off x="8321040" y="292608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Proven Chile tour product</a:t>
            </a:r>
            <a:endParaRPr lang="en-US" sz="1300" dirty="0"/>
          </a:p>
        </p:txBody>
      </p:sp>
      <p:sp>
        <p:nvSpPr>
          <p:cNvPr id="25" name="Text 23"/>
          <p:cNvSpPr/>
          <p:nvPr/>
        </p:nvSpPr>
        <p:spPr>
          <a:xfrm>
            <a:off x="8321040" y="342900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Operational excellence</a:t>
            </a:r>
            <a:endParaRPr lang="en-US" sz="1300" dirty="0"/>
          </a:p>
        </p:txBody>
      </p:sp>
      <p:sp>
        <p:nvSpPr>
          <p:cNvPr id="26" name="Text 24"/>
          <p:cNvSpPr/>
          <p:nvPr/>
        </p:nvSpPr>
        <p:spPr>
          <a:xfrm>
            <a:off x="8321040" y="393192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Experience design craft</a:t>
            </a:r>
            <a:endParaRPr lang="en-US" sz="1300" dirty="0"/>
          </a:p>
        </p:txBody>
      </p:sp>
      <p:sp>
        <p:nvSpPr>
          <p:cNvPr id="27" name="Text 25"/>
          <p:cNvSpPr/>
          <p:nvPr/>
        </p:nvSpPr>
        <p:spPr>
          <a:xfrm>
            <a:off x="8321040" y="4434840"/>
            <a:ext cx="3017520" cy="45720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Scalable destination network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PRODUCT FLOW</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06</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06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From motivator to memory in four steps</a:t>
            </a:r>
            <a:endParaRPr lang="en-US" sz="2600" dirty="0"/>
          </a:p>
        </p:txBody>
      </p:sp>
      <p:sp>
        <p:nvSpPr>
          <p:cNvPr id="7" name="Shape 5"/>
          <p:cNvSpPr/>
          <p:nvPr/>
        </p:nvSpPr>
        <p:spPr>
          <a:xfrm>
            <a:off x="548640" y="1463040"/>
            <a:ext cx="502920" cy="502920"/>
          </a:xfrm>
          <a:prstGeom prst="ellipse">
            <a:avLst/>
          </a:prstGeom>
          <a:solidFill>
            <a:srgbClr val="B85C38"/>
          </a:solidFill>
          <a:ln/>
        </p:spPr>
      </p:sp>
      <p:sp>
        <p:nvSpPr>
          <p:cNvPr id="8" name="Text 6"/>
          <p:cNvSpPr/>
          <p:nvPr/>
        </p:nvSpPr>
        <p:spPr>
          <a:xfrm>
            <a:off x="548640" y="1536192"/>
            <a:ext cx="502920" cy="365760"/>
          </a:xfrm>
          <a:prstGeom prst="rect">
            <a:avLst/>
          </a:prstGeom>
          <a:noFill/>
          <a:ln/>
        </p:spPr>
        <p:txBody>
          <a:bodyPr wrap="square" lIns="0" tIns="0" rIns="0" bIns="0" rtlCol="0" anchor="ctr"/>
          <a:lstStyle/>
          <a:p>
            <a:pPr algn="ctr" indent="0" marL="0">
              <a:buNone/>
            </a:pPr>
            <a:r>
              <a:rPr lang="en-US" sz="1800" b="1" dirty="0">
                <a:solidFill>
                  <a:srgbClr val="EFEAE0"/>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1280160" y="1463040"/>
            <a:ext cx="2743200" cy="365760"/>
          </a:xfrm>
          <a:prstGeom prst="rect">
            <a:avLst/>
          </a:prstGeom>
          <a:noFill/>
          <a:ln/>
        </p:spPr>
        <p:txBody>
          <a:bodyPr wrap="square" lIns="0" tIns="0" rIns="0" bIns="0" rtlCol="0" anchor="ctr"/>
          <a:lstStyle/>
          <a:p>
            <a:pPr indent="0" marL="0">
              <a:buNone/>
            </a:pPr>
            <a:r>
              <a:rPr lang="en-US" sz="1800" b="1" dirty="0">
                <a:solidFill>
                  <a:srgbClr val="1A1A1A"/>
                </a:solidFill>
                <a:latin typeface="Arial" pitchFamily="34" charset="0"/>
                <a:ea typeface="Arial" pitchFamily="34" charset="-122"/>
                <a:cs typeface="Arial" pitchFamily="34" charset="-120"/>
              </a:rPr>
              <a:t>Diagnose</a:t>
            </a:r>
            <a:endParaRPr lang="en-US" sz="1800" dirty="0"/>
          </a:p>
        </p:txBody>
      </p:sp>
      <p:sp>
        <p:nvSpPr>
          <p:cNvPr id="10" name="Text 8"/>
          <p:cNvSpPr/>
          <p:nvPr/>
        </p:nvSpPr>
        <p:spPr>
          <a:xfrm>
            <a:off x="4206240" y="1463040"/>
            <a:ext cx="7772400" cy="64008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Employees and teams complete the Motivation Map. Core motivators, current energy, and engagement gaps are revealed.</a:t>
            </a:r>
            <a:endParaRPr lang="en-US" sz="1400" dirty="0"/>
          </a:p>
        </p:txBody>
      </p:sp>
      <p:sp>
        <p:nvSpPr>
          <p:cNvPr id="11" name="Shape 9"/>
          <p:cNvSpPr/>
          <p:nvPr/>
        </p:nvSpPr>
        <p:spPr>
          <a:xfrm>
            <a:off x="548640" y="2606040"/>
            <a:ext cx="502920" cy="502920"/>
          </a:xfrm>
          <a:prstGeom prst="ellipse">
            <a:avLst/>
          </a:prstGeom>
          <a:solidFill>
            <a:srgbClr val="B85C38"/>
          </a:solidFill>
          <a:ln/>
        </p:spPr>
      </p:sp>
      <p:sp>
        <p:nvSpPr>
          <p:cNvPr id="12" name="Text 10"/>
          <p:cNvSpPr/>
          <p:nvPr/>
        </p:nvSpPr>
        <p:spPr>
          <a:xfrm>
            <a:off x="548640" y="2679192"/>
            <a:ext cx="502920" cy="365760"/>
          </a:xfrm>
          <a:prstGeom prst="rect">
            <a:avLst/>
          </a:prstGeom>
          <a:noFill/>
          <a:ln/>
        </p:spPr>
        <p:txBody>
          <a:bodyPr wrap="square" lIns="0" tIns="0" rIns="0" bIns="0" rtlCol="0" anchor="ctr"/>
          <a:lstStyle/>
          <a:p>
            <a:pPr algn="ctr" indent="0" marL="0">
              <a:buNone/>
            </a:pPr>
            <a:r>
              <a:rPr lang="en-US" sz="1800" b="1" dirty="0">
                <a:solidFill>
                  <a:srgbClr val="EFEAE0"/>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280160" y="2606040"/>
            <a:ext cx="2743200" cy="365760"/>
          </a:xfrm>
          <a:prstGeom prst="rect">
            <a:avLst/>
          </a:prstGeom>
          <a:noFill/>
          <a:ln/>
        </p:spPr>
        <p:txBody>
          <a:bodyPr wrap="square" lIns="0" tIns="0" rIns="0" bIns="0" rtlCol="0" anchor="ctr"/>
          <a:lstStyle/>
          <a:p>
            <a:pPr indent="0" marL="0">
              <a:buNone/>
            </a:pPr>
            <a:r>
              <a:rPr lang="en-US" sz="1800" b="1" dirty="0">
                <a:solidFill>
                  <a:srgbClr val="1A1A1A"/>
                </a:solidFill>
                <a:latin typeface="Arial" pitchFamily="34" charset="0"/>
                <a:ea typeface="Arial" pitchFamily="34" charset="-122"/>
                <a:cs typeface="Arial" pitchFamily="34" charset="-120"/>
              </a:rPr>
              <a:t>Personalize</a:t>
            </a:r>
            <a:endParaRPr lang="en-US" sz="1800" dirty="0"/>
          </a:p>
        </p:txBody>
      </p:sp>
      <p:sp>
        <p:nvSpPr>
          <p:cNvPr id="14" name="Text 12"/>
          <p:cNvSpPr/>
          <p:nvPr/>
        </p:nvSpPr>
        <p:spPr>
          <a:xfrm>
            <a:off x="4206240" y="2606040"/>
            <a:ext cx="7772400" cy="64008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Benefits recommendations, lifestyle spending categories, and recognition styles are matched to the map. HR sees clear allocation logic.</a:t>
            </a:r>
            <a:endParaRPr lang="en-US" sz="1400" dirty="0"/>
          </a:p>
        </p:txBody>
      </p:sp>
      <p:sp>
        <p:nvSpPr>
          <p:cNvPr id="15" name="Shape 13"/>
          <p:cNvSpPr/>
          <p:nvPr/>
        </p:nvSpPr>
        <p:spPr>
          <a:xfrm>
            <a:off x="548640" y="3749040"/>
            <a:ext cx="502920" cy="502920"/>
          </a:xfrm>
          <a:prstGeom prst="ellipse">
            <a:avLst/>
          </a:prstGeom>
          <a:solidFill>
            <a:srgbClr val="B85C38"/>
          </a:solidFill>
          <a:ln/>
        </p:spPr>
      </p:sp>
      <p:sp>
        <p:nvSpPr>
          <p:cNvPr id="16" name="Text 14"/>
          <p:cNvSpPr/>
          <p:nvPr/>
        </p:nvSpPr>
        <p:spPr>
          <a:xfrm>
            <a:off x="548640" y="3822192"/>
            <a:ext cx="502920" cy="365760"/>
          </a:xfrm>
          <a:prstGeom prst="rect">
            <a:avLst/>
          </a:prstGeom>
          <a:noFill/>
          <a:ln/>
        </p:spPr>
        <p:txBody>
          <a:bodyPr wrap="square" lIns="0" tIns="0" rIns="0" bIns="0" rtlCol="0" anchor="ctr"/>
          <a:lstStyle/>
          <a:p>
            <a:pPr algn="ctr" indent="0" marL="0">
              <a:buNone/>
            </a:pPr>
            <a:r>
              <a:rPr lang="en-US" sz="1800" b="1" dirty="0">
                <a:solidFill>
                  <a:srgbClr val="EFEAE0"/>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280160" y="3749040"/>
            <a:ext cx="2743200" cy="365760"/>
          </a:xfrm>
          <a:prstGeom prst="rect">
            <a:avLst/>
          </a:prstGeom>
          <a:noFill/>
          <a:ln/>
        </p:spPr>
        <p:txBody>
          <a:bodyPr wrap="square" lIns="0" tIns="0" rIns="0" bIns="0" rtlCol="0" anchor="ctr"/>
          <a:lstStyle/>
          <a:p>
            <a:pPr indent="0" marL="0">
              <a:buNone/>
            </a:pPr>
            <a:r>
              <a:rPr lang="en-US" sz="1800" b="1" dirty="0">
                <a:solidFill>
                  <a:srgbClr val="1A1A1A"/>
                </a:solidFill>
                <a:latin typeface="Arial" pitchFamily="34" charset="0"/>
                <a:ea typeface="Arial" pitchFamily="34" charset="-122"/>
                <a:cs typeface="Arial" pitchFamily="34" charset="-120"/>
              </a:rPr>
              <a:t>Experience</a:t>
            </a:r>
            <a:endParaRPr lang="en-US" sz="1800" dirty="0"/>
          </a:p>
        </p:txBody>
      </p:sp>
      <p:sp>
        <p:nvSpPr>
          <p:cNvPr id="18" name="Text 16"/>
          <p:cNvSpPr/>
          <p:nvPr/>
        </p:nvSpPr>
        <p:spPr>
          <a:xfrm>
            <a:off x="4206240" y="3749040"/>
            <a:ext cx="7772400" cy="64008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High-impact moments (group retreats or individual rewards) are designed from the same data. Chile Signature is the first product.</a:t>
            </a:r>
            <a:endParaRPr lang="en-US" sz="1400" dirty="0"/>
          </a:p>
        </p:txBody>
      </p:sp>
      <p:sp>
        <p:nvSpPr>
          <p:cNvPr id="19" name="Shape 17"/>
          <p:cNvSpPr/>
          <p:nvPr/>
        </p:nvSpPr>
        <p:spPr>
          <a:xfrm>
            <a:off x="548640" y="4892040"/>
            <a:ext cx="502920" cy="502920"/>
          </a:xfrm>
          <a:prstGeom prst="ellipse">
            <a:avLst/>
          </a:prstGeom>
          <a:solidFill>
            <a:srgbClr val="B85C38"/>
          </a:solidFill>
          <a:ln/>
        </p:spPr>
      </p:sp>
      <p:sp>
        <p:nvSpPr>
          <p:cNvPr id="20" name="Text 18"/>
          <p:cNvSpPr/>
          <p:nvPr/>
        </p:nvSpPr>
        <p:spPr>
          <a:xfrm>
            <a:off x="548640" y="4965192"/>
            <a:ext cx="502920" cy="365760"/>
          </a:xfrm>
          <a:prstGeom prst="rect">
            <a:avLst/>
          </a:prstGeom>
          <a:noFill/>
          <a:ln/>
        </p:spPr>
        <p:txBody>
          <a:bodyPr wrap="square" lIns="0" tIns="0" rIns="0" bIns="0" rtlCol="0" anchor="ctr"/>
          <a:lstStyle/>
          <a:p>
            <a:pPr algn="ctr" indent="0" marL="0">
              <a:buNone/>
            </a:pPr>
            <a:r>
              <a:rPr lang="en-US" sz="1800" b="1" dirty="0">
                <a:solidFill>
                  <a:srgbClr val="EFEAE0"/>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280160" y="4892040"/>
            <a:ext cx="2743200" cy="365760"/>
          </a:xfrm>
          <a:prstGeom prst="rect">
            <a:avLst/>
          </a:prstGeom>
          <a:noFill/>
          <a:ln/>
        </p:spPr>
        <p:txBody>
          <a:bodyPr wrap="square" lIns="0" tIns="0" rIns="0" bIns="0" rtlCol="0" anchor="ctr"/>
          <a:lstStyle/>
          <a:p>
            <a:pPr indent="0" marL="0">
              <a:buNone/>
            </a:pPr>
            <a:r>
              <a:rPr lang="en-US" sz="1800" b="1" dirty="0">
                <a:solidFill>
                  <a:srgbClr val="1A1A1A"/>
                </a:solidFill>
                <a:latin typeface="Arial" pitchFamily="34" charset="0"/>
                <a:ea typeface="Arial" pitchFamily="34" charset="-122"/>
                <a:cs typeface="Arial" pitchFamily="34" charset="-120"/>
              </a:rPr>
              <a:t>Measure &amp; Loop</a:t>
            </a:r>
            <a:endParaRPr lang="en-US" sz="1800" dirty="0"/>
          </a:p>
        </p:txBody>
      </p:sp>
      <p:sp>
        <p:nvSpPr>
          <p:cNvPr id="22" name="Text 20"/>
          <p:cNvSpPr/>
          <p:nvPr/>
        </p:nvSpPr>
        <p:spPr>
          <a:xfrm>
            <a:off x="4206240" y="4892040"/>
            <a:ext cx="7772400" cy="64008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Post-experience surveys feed back into the platform. Motivation scores, retention, and engagement lift become visible.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THE ENGINE</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07</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07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Motivation Map is the operating system</a:t>
            </a:r>
            <a:endParaRPr lang="en-US" sz="2600" dirty="0"/>
          </a:p>
        </p:txBody>
      </p:sp>
      <p:sp>
        <p:nvSpPr>
          <p:cNvPr id="7" name="Text 5"/>
          <p:cNvSpPr/>
          <p:nvPr/>
        </p:nvSpPr>
        <p:spPr>
          <a:xfrm>
            <a:off x="548640" y="1371600"/>
            <a:ext cx="10972800" cy="640080"/>
          </a:xfrm>
          <a:prstGeom prst="rect">
            <a:avLst/>
          </a:prstGeom>
          <a:noFill/>
          <a:ln/>
        </p:spPr>
        <p:txBody>
          <a:bodyPr wrap="square" lIns="0" tIns="0" rIns="0" bIns="0" rtlCol="0" anchor="ctr"/>
          <a:lstStyle/>
          <a:p>
            <a:pPr indent="0" marL="0">
              <a:buNone/>
            </a:pPr>
            <a:r>
              <a:rPr lang="en-US" sz="1500" dirty="0">
                <a:solidFill>
                  <a:srgbClr val="7A756D"/>
                </a:solidFill>
                <a:latin typeface="Arial" pitchFamily="34" charset="0"/>
                <a:ea typeface="Arial" pitchFamily="34" charset="-122"/>
                <a:cs typeface="Arial" pitchFamily="34" charset="-120"/>
              </a:rPr>
              <a:t>Not another personality test. A practical map of what actually drives energy, engagement, and performance — and how well those drivers are currently being met.</a:t>
            </a:r>
            <a:endParaRPr lang="en-US" sz="1500" dirty="0"/>
          </a:p>
        </p:txBody>
      </p:sp>
      <p:sp>
        <p:nvSpPr>
          <p:cNvPr id="8" name="Shape 6"/>
          <p:cNvSpPr/>
          <p:nvPr/>
        </p:nvSpPr>
        <p:spPr>
          <a:xfrm>
            <a:off x="548640" y="2286000"/>
            <a:ext cx="3566160" cy="3200400"/>
          </a:xfrm>
          <a:prstGeom prst="roundRect">
            <a:avLst>
              <a:gd name="adj" fmla="val 2857"/>
            </a:avLst>
          </a:prstGeom>
          <a:solidFill>
            <a:srgbClr val="F5F0E6"/>
          </a:solidFill>
          <a:ln/>
        </p:spPr>
      </p:sp>
      <p:sp>
        <p:nvSpPr>
          <p:cNvPr id="9" name="Text 7"/>
          <p:cNvSpPr/>
          <p:nvPr/>
        </p:nvSpPr>
        <p:spPr>
          <a:xfrm>
            <a:off x="822960" y="2514600"/>
            <a:ext cx="3017520" cy="411480"/>
          </a:xfrm>
          <a:prstGeom prst="rect">
            <a:avLst/>
          </a:prstGeom>
          <a:noFill/>
          <a:ln/>
        </p:spPr>
        <p:txBody>
          <a:bodyPr wrap="square" lIns="0" tIns="0" rIns="0" bIns="0" rtlCol="0" anchor="ctr"/>
          <a:lstStyle/>
          <a:p>
            <a:pPr indent="0" marL="0">
              <a:buNone/>
            </a:pPr>
            <a:r>
              <a:rPr lang="en-US" sz="1800" b="1" dirty="0">
                <a:solidFill>
                  <a:srgbClr val="B85C38"/>
                </a:solidFill>
                <a:latin typeface="Arial" pitchFamily="34" charset="0"/>
                <a:ea typeface="Arial" pitchFamily="34" charset="-122"/>
                <a:cs typeface="Arial" pitchFamily="34" charset="-120"/>
              </a:rPr>
              <a:t>Relationship</a:t>
            </a:r>
            <a:endParaRPr lang="en-US" sz="1800" dirty="0"/>
          </a:p>
        </p:txBody>
      </p:sp>
      <p:sp>
        <p:nvSpPr>
          <p:cNvPr id="10" name="Text 8"/>
          <p:cNvSpPr/>
          <p:nvPr/>
        </p:nvSpPr>
        <p:spPr>
          <a:xfrm>
            <a:off x="822960" y="320040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Defender – security</a:t>
            </a:r>
            <a:endParaRPr lang="en-US" sz="1400" dirty="0"/>
          </a:p>
        </p:txBody>
      </p:sp>
      <p:sp>
        <p:nvSpPr>
          <p:cNvPr id="11" name="Text 9"/>
          <p:cNvSpPr/>
          <p:nvPr/>
        </p:nvSpPr>
        <p:spPr>
          <a:xfrm>
            <a:off x="822960" y="370332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Friend – belonging</a:t>
            </a:r>
            <a:endParaRPr lang="en-US" sz="1400" dirty="0"/>
          </a:p>
        </p:txBody>
      </p:sp>
      <p:sp>
        <p:nvSpPr>
          <p:cNvPr id="12" name="Text 10"/>
          <p:cNvSpPr/>
          <p:nvPr/>
        </p:nvSpPr>
        <p:spPr>
          <a:xfrm>
            <a:off x="822960" y="420624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Star – recognition</a:t>
            </a:r>
            <a:endParaRPr lang="en-US" sz="1400" dirty="0"/>
          </a:p>
        </p:txBody>
      </p:sp>
      <p:sp>
        <p:nvSpPr>
          <p:cNvPr id="13" name="Shape 11"/>
          <p:cNvSpPr/>
          <p:nvPr/>
        </p:nvSpPr>
        <p:spPr>
          <a:xfrm>
            <a:off x="4297680" y="2286000"/>
            <a:ext cx="3566160" cy="3200400"/>
          </a:xfrm>
          <a:prstGeom prst="roundRect">
            <a:avLst>
              <a:gd name="adj" fmla="val 2857"/>
            </a:avLst>
          </a:prstGeom>
          <a:solidFill>
            <a:srgbClr val="F5F0E6"/>
          </a:solidFill>
          <a:ln/>
        </p:spPr>
      </p:sp>
      <p:sp>
        <p:nvSpPr>
          <p:cNvPr id="14" name="Text 12"/>
          <p:cNvSpPr/>
          <p:nvPr/>
        </p:nvSpPr>
        <p:spPr>
          <a:xfrm>
            <a:off x="4572000" y="2514600"/>
            <a:ext cx="3017520" cy="411480"/>
          </a:xfrm>
          <a:prstGeom prst="rect">
            <a:avLst/>
          </a:prstGeom>
          <a:noFill/>
          <a:ln/>
        </p:spPr>
        <p:txBody>
          <a:bodyPr wrap="square" lIns="0" tIns="0" rIns="0" bIns="0" rtlCol="0" anchor="ctr"/>
          <a:lstStyle/>
          <a:p>
            <a:pPr indent="0" marL="0">
              <a:buNone/>
            </a:pPr>
            <a:r>
              <a:rPr lang="en-US" sz="1800" b="1" dirty="0">
                <a:solidFill>
                  <a:srgbClr val="B85C38"/>
                </a:solidFill>
                <a:latin typeface="Arial" pitchFamily="34" charset="0"/>
                <a:ea typeface="Arial" pitchFamily="34" charset="-122"/>
                <a:cs typeface="Arial" pitchFamily="34" charset="-120"/>
              </a:rPr>
              <a:t>Achievement</a:t>
            </a:r>
            <a:endParaRPr lang="en-US" sz="1800" dirty="0"/>
          </a:p>
        </p:txBody>
      </p:sp>
      <p:sp>
        <p:nvSpPr>
          <p:cNvPr id="15" name="Text 13"/>
          <p:cNvSpPr/>
          <p:nvPr/>
        </p:nvSpPr>
        <p:spPr>
          <a:xfrm>
            <a:off x="4572000" y="320040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Builder – material gain</a:t>
            </a:r>
            <a:endParaRPr lang="en-US" sz="1400" dirty="0"/>
          </a:p>
        </p:txBody>
      </p:sp>
      <p:sp>
        <p:nvSpPr>
          <p:cNvPr id="16" name="Text 14"/>
          <p:cNvSpPr/>
          <p:nvPr/>
        </p:nvSpPr>
        <p:spPr>
          <a:xfrm>
            <a:off x="4572000" y="370332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Director – control</a:t>
            </a:r>
            <a:endParaRPr lang="en-US" sz="1400" dirty="0"/>
          </a:p>
        </p:txBody>
      </p:sp>
      <p:sp>
        <p:nvSpPr>
          <p:cNvPr id="17" name="Text 15"/>
          <p:cNvSpPr/>
          <p:nvPr/>
        </p:nvSpPr>
        <p:spPr>
          <a:xfrm>
            <a:off x="4572000" y="420624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Expert – knowledge</a:t>
            </a:r>
            <a:endParaRPr lang="en-US" sz="1400" dirty="0"/>
          </a:p>
        </p:txBody>
      </p:sp>
      <p:sp>
        <p:nvSpPr>
          <p:cNvPr id="18" name="Shape 16"/>
          <p:cNvSpPr/>
          <p:nvPr/>
        </p:nvSpPr>
        <p:spPr>
          <a:xfrm>
            <a:off x="8046720" y="2286000"/>
            <a:ext cx="3566160" cy="3200400"/>
          </a:xfrm>
          <a:prstGeom prst="roundRect">
            <a:avLst>
              <a:gd name="adj" fmla="val 2857"/>
            </a:avLst>
          </a:prstGeom>
          <a:solidFill>
            <a:srgbClr val="F5F0E6"/>
          </a:solidFill>
          <a:ln/>
        </p:spPr>
      </p:sp>
      <p:sp>
        <p:nvSpPr>
          <p:cNvPr id="19" name="Text 17"/>
          <p:cNvSpPr/>
          <p:nvPr/>
        </p:nvSpPr>
        <p:spPr>
          <a:xfrm>
            <a:off x="8321040" y="2514600"/>
            <a:ext cx="3017520" cy="411480"/>
          </a:xfrm>
          <a:prstGeom prst="rect">
            <a:avLst/>
          </a:prstGeom>
          <a:noFill/>
          <a:ln/>
        </p:spPr>
        <p:txBody>
          <a:bodyPr wrap="square" lIns="0" tIns="0" rIns="0" bIns="0" rtlCol="0" anchor="ctr"/>
          <a:lstStyle/>
          <a:p>
            <a:pPr indent="0" marL="0">
              <a:buNone/>
            </a:pPr>
            <a:r>
              <a:rPr lang="en-US" sz="1800" b="1" dirty="0">
                <a:solidFill>
                  <a:srgbClr val="B85C38"/>
                </a:solidFill>
                <a:latin typeface="Arial" pitchFamily="34" charset="0"/>
                <a:ea typeface="Arial" pitchFamily="34" charset="-122"/>
                <a:cs typeface="Arial" pitchFamily="34" charset="-120"/>
              </a:rPr>
              <a:t>Growth</a:t>
            </a:r>
            <a:endParaRPr lang="en-US" sz="1800" dirty="0"/>
          </a:p>
        </p:txBody>
      </p:sp>
      <p:sp>
        <p:nvSpPr>
          <p:cNvPr id="20" name="Text 18"/>
          <p:cNvSpPr/>
          <p:nvPr/>
        </p:nvSpPr>
        <p:spPr>
          <a:xfrm>
            <a:off x="8321040" y="320040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Creator – create</a:t>
            </a:r>
            <a:endParaRPr lang="en-US" sz="1400" dirty="0"/>
          </a:p>
        </p:txBody>
      </p:sp>
      <p:sp>
        <p:nvSpPr>
          <p:cNvPr id="21" name="Text 19"/>
          <p:cNvSpPr/>
          <p:nvPr/>
        </p:nvSpPr>
        <p:spPr>
          <a:xfrm>
            <a:off x="8321040" y="370332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Spirit – freedom</a:t>
            </a:r>
            <a:endParaRPr lang="en-US" sz="1400" dirty="0"/>
          </a:p>
        </p:txBody>
      </p:sp>
      <p:sp>
        <p:nvSpPr>
          <p:cNvPr id="22" name="Text 20"/>
          <p:cNvSpPr/>
          <p:nvPr/>
        </p:nvSpPr>
        <p:spPr>
          <a:xfrm>
            <a:off x="8321040" y="4206240"/>
            <a:ext cx="301752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Searcher – meaning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FLAGSHIP PRODUCT</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08</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08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Signature Odyssey — Chile</a:t>
            </a:r>
            <a:endParaRPr lang="en-US" sz="2600" dirty="0"/>
          </a:p>
        </p:txBody>
      </p:sp>
      <p:sp>
        <p:nvSpPr>
          <p:cNvPr id="7" name="Text 5"/>
          <p:cNvSpPr/>
          <p:nvPr/>
        </p:nvSpPr>
        <p:spPr>
          <a:xfrm>
            <a:off x="548640" y="1325880"/>
            <a:ext cx="10972800" cy="502920"/>
          </a:xfrm>
          <a:prstGeom prst="rect">
            <a:avLst/>
          </a:prstGeom>
          <a:noFill/>
          <a:ln/>
        </p:spPr>
        <p:txBody>
          <a:bodyPr wrap="square" lIns="0" tIns="0" rIns="0" bIns="0" rtlCol="0" anchor="ctr"/>
          <a:lstStyle/>
          <a:p>
            <a:pPr indent="0" marL="0">
              <a:buNone/>
            </a:pPr>
            <a:r>
              <a:rPr lang="en-US" sz="1500" dirty="0">
                <a:solidFill>
                  <a:srgbClr val="7A756D"/>
                </a:solidFill>
                <a:latin typeface="Arial" pitchFamily="34" charset="0"/>
                <a:ea typeface="Arial" pitchFamily="34" charset="-122"/>
                <a:cs typeface="Arial" pitchFamily="34" charset="-120"/>
              </a:rPr>
              <a:t>The first fully motivator-aligned corporate experience product. Turns an existing strong itinerary into a strategic benefits &amp; culture tool.</a:t>
            </a:r>
            <a:endParaRPr lang="en-US" sz="1500" dirty="0"/>
          </a:p>
        </p:txBody>
      </p:sp>
      <p:sp>
        <p:nvSpPr>
          <p:cNvPr id="8" name="Shape 6"/>
          <p:cNvSpPr/>
          <p:nvPr/>
        </p:nvSpPr>
        <p:spPr>
          <a:xfrm>
            <a:off x="548640" y="2011680"/>
            <a:ext cx="5394960" cy="3566160"/>
          </a:xfrm>
          <a:prstGeom prst="roundRect">
            <a:avLst>
              <a:gd name="adj" fmla="val 2564"/>
            </a:avLst>
          </a:prstGeom>
          <a:solidFill>
            <a:srgbClr val="F5F0E6"/>
          </a:solidFill>
          <a:ln/>
        </p:spPr>
      </p:sp>
      <p:sp>
        <p:nvSpPr>
          <p:cNvPr id="9" name="Text 7"/>
          <p:cNvSpPr/>
          <p:nvPr/>
        </p:nvSpPr>
        <p:spPr>
          <a:xfrm>
            <a:off x="868680" y="2240280"/>
            <a:ext cx="475488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What the trip becomes</a:t>
            </a:r>
            <a:endParaRPr lang="en-US" sz="1600" dirty="0"/>
          </a:p>
        </p:txBody>
      </p:sp>
      <p:sp>
        <p:nvSpPr>
          <p:cNvPr id="10" name="Text 8"/>
          <p:cNvSpPr/>
          <p:nvPr/>
        </p:nvSpPr>
        <p:spPr>
          <a:xfrm>
            <a:off x="868680" y="278892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Atacama or Patagonia focus (or combined)</a:t>
            </a:r>
            <a:endParaRPr lang="en-US" sz="1300" dirty="0"/>
          </a:p>
        </p:txBody>
      </p:sp>
      <p:sp>
        <p:nvSpPr>
          <p:cNvPr id="11" name="Text 9"/>
          <p:cNvSpPr/>
          <p:nvPr/>
        </p:nvSpPr>
        <p:spPr>
          <a:xfrm>
            <a:off x="868680" y="320040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Pre-trip Motivation Map for every participant</a:t>
            </a:r>
            <a:endParaRPr lang="en-US" sz="1300" dirty="0"/>
          </a:p>
        </p:txBody>
      </p:sp>
      <p:sp>
        <p:nvSpPr>
          <p:cNvPr id="12" name="Text 10"/>
          <p:cNvSpPr/>
          <p:nvPr/>
        </p:nvSpPr>
        <p:spPr>
          <a:xfrm>
            <a:off x="868680" y="361188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Agenda modules matched to team motivator profile</a:t>
            </a:r>
            <a:endParaRPr lang="en-US" sz="1300" dirty="0"/>
          </a:p>
        </p:txBody>
      </p:sp>
      <p:sp>
        <p:nvSpPr>
          <p:cNvPr id="13" name="Text 11"/>
          <p:cNvSpPr/>
          <p:nvPr/>
        </p:nvSpPr>
        <p:spPr>
          <a:xfrm>
            <a:off x="868680" y="402336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Wellness + purpose + recognition elements</a:t>
            </a:r>
            <a:endParaRPr lang="en-US" sz="1300" dirty="0"/>
          </a:p>
        </p:txBody>
      </p:sp>
      <p:sp>
        <p:nvSpPr>
          <p:cNvPr id="14" name="Text 12"/>
          <p:cNvSpPr/>
          <p:nvPr/>
        </p:nvSpPr>
        <p:spPr>
          <a:xfrm>
            <a:off x="868680" y="443484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Post-trip integration into the benefits platform</a:t>
            </a:r>
            <a:endParaRPr lang="en-US" sz="1300" dirty="0"/>
          </a:p>
        </p:txBody>
      </p:sp>
      <p:sp>
        <p:nvSpPr>
          <p:cNvPr id="15" name="Text 13"/>
          <p:cNvSpPr/>
          <p:nvPr/>
        </p:nvSpPr>
        <p:spPr>
          <a:xfrm>
            <a:off x="868680" y="4846320"/>
            <a:ext cx="4754880" cy="3657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Clear business outcomes defined upfront</a:t>
            </a:r>
            <a:endParaRPr lang="en-US" sz="1300" dirty="0"/>
          </a:p>
        </p:txBody>
      </p:sp>
      <p:sp>
        <p:nvSpPr>
          <p:cNvPr id="16" name="Shape 14"/>
          <p:cNvSpPr/>
          <p:nvPr/>
        </p:nvSpPr>
        <p:spPr>
          <a:xfrm>
            <a:off x="6309360" y="2011680"/>
            <a:ext cx="5394960" cy="3566160"/>
          </a:xfrm>
          <a:prstGeom prst="roundRect">
            <a:avLst>
              <a:gd name="adj" fmla="val 2564"/>
            </a:avLst>
          </a:prstGeom>
          <a:solidFill>
            <a:srgbClr val="2B2824"/>
          </a:solidFill>
          <a:ln/>
        </p:spPr>
      </p:sp>
      <p:sp>
        <p:nvSpPr>
          <p:cNvPr id="17" name="Text 15"/>
          <p:cNvSpPr/>
          <p:nvPr/>
        </p:nvSpPr>
        <p:spPr>
          <a:xfrm>
            <a:off x="6629400" y="2240280"/>
            <a:ext cx="4754880" cy="365760"/>
          </a:xfrm>
          <a:prstGeom prst="rect">
            <a:avLst/>
          </a:prstGeom>
          <a:noFill/>
          <a:ln/>
        </p:spPr>
        <p:txBody>
          <a:bodyPr wrap="square" lIns="0" tIns="0" rIns="0" bIns="0" rtlCol="0" anchor="ctr"/>
          <a:lstStyle/>
          <a:p>
            <a:pPr indent="0" marL="0">
              <a:buNone/>
            </a:pPr>
            <a:r>
              <a:rPr lang="en-US" sz="1600" b="1" dirty="0">
                <a:solidFill>
                  <a:srgbClr val="EFEAE0"/>
                </a:solidFill>
                <a:latin typeface="Arial" pitchFamily="34" charset="0"/>
                <a:ea typeface="Arial" pitchFamily="34" charset="-122"/>
                <a:cs typeface="Arial" pitchFamily="34" charset="-120"/>
              </a:rPr>
              <a:t>Why it works commercially</a:t>
            </a:r>
            <a:endParaRPr lang="en-US" sz="1600" dirty="0"/>
          </a:p>
        </p:txBody>
      </p:sp>
      <p:sp>
        <p:nvSpPr>
          <p:cNvPr id="18" name="Text 16"/>
          <p:cNvSpPr/>
          <p:nvPr/>
        </p:nvSpPr>
        <p:spPr>
          <a:xfrm>
            <a:off x="6629400" y="278892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Ready product (existing Chile deck)</a:t>
            </a:r>
            <a:endParaRPr lang="en-US" sz="1300" dirty="0"/>
          </a:p>
        </p:txBody>
      </p:sp>
      <p:sp>
        <p:nvSpPr>
          <p:cNvPr id="19" name="Text 17"/>
          <p:cNvSpPr/>
          <p:nvPr/>
        </p:nvSpPr>
        <p:spPr>
          <a:xfrm>
            <a:off x="6629400" y="320040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High perceived value &amp; shareability</a:t>
            </a:r>
            <a:endParaRPr lang="en-US" sz="1300" dirty="0"/>
          </a:p>
        </p:txBody>
      </p:sp>
      <p:sp>
        <p:nvSpPr>
          <p:cNvPr id="20" name="Text 18"/>
          <p:cNvSpPr/>
          <p:nvPr/>
        </p:nvSpPr>
        <p:spPr>
          <a:xfrm>
            <a:off x="6629400" y="361188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Can be funded from benefits / recognition budgets</a:t>
            </a:r>
            <a:endParaRPr lang="en-US" sz="1300" dirty="0"/>
          </a:p>
        </p:txBody>
      </p:sp>
      <p:sp>
        <p:nvSpPr>
          <p:cNvPr id="21" name="Text 19"/>
          <p:cNvSpPr/>
          <p:nvPr/>
        </p:nvSpPr>
        <p:spPr>
          <a:xfrm>
            <a:off x="6629400" y="402336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Creates sticky platform usage after the trip</a:t>
            </a:r>
            <a:endParaRPr lang="en-US" sz="1300" dirty="0"/>
          </a:p>
        </p:txBody>
      </p:sp>
      <p:sp>
        <p:nvSpPr>
          <p:cNvPr id="22" name="Text 20"/>
          <p:cNvSpPr/>
          <p:nvPr/>
        </p:nvSpPr>
        <p:spPr>
          <a:xfrm>
            <a:off x="6629400" y="443484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Natural upsell into broader destination catalog</a:t>
            </a:r>
            <a:endParaRPr lang="en-US" sz="1300" dirty="0"/>
          </a:p>
        </p:txBody>
      </p:sp>
      <p:sp>
        <p:nvSpPr>
          <p:cNvPr id="23" name="Text 21"/>
          <p:cNvSpPr/>
          <p:nvPr/>
        </p:nvSpPr>
        <p:spPr>
          <a:xfrm>
            <a:off x="6629400" y="4846320"/>
            <a:ext cx="4754880" cy="365760"/>
          </a:xfrm>
          <a:prstGeom prst="rect">
            <a:avLst/>
          </a:prstGeom>
          <a:noFill/>
          <a:ln/>
        </p:spPr>
        <p:txBody>
          <a:bodyPr wrap="square" lIns="0" tIns="0" rIns="0" bIns="0" rtlCol="0" anchor="ctr"/>
          <a:lstStyle/>
          <a:p>
            <a:pPr indent="0" marL="0">
              <a:buNone/>
            </a:pPr>
            <a:r>
              <a:rPr lang="en-US" sz="1300" dirty="0">
                <a:solidFill>
                  <a:srgbClr val="A89F93"/>
                </a:solidFill>
                <a:latin typeface="Arial" pitchFamily="34" charset="0"/>
                <a:ea typeface="Arial" pitchFamily="34" charset="-122"/>
                <a:cs typeface="Arial" pitchFamily="34" charset="-120"/>
              </a:rPr>
              <a:t>•  Differentiation no pure benefits player has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BUSINESS MODEL</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09</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09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Recurring platform + high-margin experiences</a:t>
            </a:r>
            <a:endParaRPr lang="en-US" sz="2600" dirty="0"/>
          </a:p>
        </p:txBody>
      </p:sp>
      <p:sp>
        <p:nvSpPr>
          <p:cNvPr id="7" name="Shape 5"/>
          <p:cNvSpPr/>
          <p:nvPr/>
        </p:nvSpPr>
        <p:spPr>
          <a:xfrm>
            <a:off x="548640" y="1463040"/>
            <a:ext cx="91440" cy="822960"/>
          </a:xfrm>
          <a:prstGeom prst="rect">
            <a:avLst/>
          </a:prstGeom>
          <a:solidFill>
            <a:srgbClr val="B85C38"/>
          </a:solidFill>
          <a:ln/>
        </p:spPr>
      </p:sp>
      <p:sp>
        <p:nvSpPr>
          <p:cNvPr id="8" name="Text 6"/>
          <p:cNvSpPr/>
          <p:nvPr/>
        </p:nvSpPr>
        <p:spPr>
          <a:xfrm>
            <a:off x="868680" y="1463040"/>
            <a:ext cx="320040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Platform SaaS</a:t>
            </a:r>
            <a:endParaRPr lang="en-US" sz="1600" dirty="0"/>
          </a:p>
        </p:txBody>
      </p:sp>
      <p:sp>
        <p:nvSpPr>
          <p:cNvPr id="9" name="Text 7"/>
          <p:cNvSpPr/>
          <p:nvPr/>
        </p:nvSpPr>
        <p:spPr>
          <a:xfrm>
            <a:off x="4206240" y="1463040"/>
            <a:ext cx="7772400" cy="82296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Per-employee monthly fee for Motivation Map access, personalized benefits engine, and engagement tools. High retention, predictable revenue.</a:t>
            </a:r>
            <a:endParaRPr lang="en-US" sz="1400" dirty="0"/>
          </a:p>
        </p:txBody>
      </p:sp>
      <p:sp>
        <p:nvSpPr>
          <p:cNvPr id="10" name="Shape 8"/>
          <p:cNvSpPr/>
          <p:nvPr/>
        </p:nvSpPr>
        <p:spPr>
          <a:xfrm>
            <a:off x="548640" y="2560320"/>
            <a:ext cx="91440" cy="822960"/>
          </a:xfrm>
          <a:prstGeom prst="rect">
            <a:avLst/>
          </a:prstGeom>
          <a:solidFill>
            <a:srgbClr val="B85C38"/>
          </a:solidFill>
          <a:ln/>
        </p:spPr>
      </p:sp>
      <p:sp>
        <p:nvSpPr>
          <p:cNvPr id="11" name="Text 9"/>
          <p:cNvSpPr/>
          <p:nvPr/>
        </p:nvSpPr>
        <p:spPr>
          <a:xfrm>
            <a:off x="868680" y="2560320"/>
            <a:ext cx="320040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Benefits Transaction</a:t>
            </a:r>
            <a:endParaRPr lang="en-US" sz="1600" dirty="0"/>
          </a:p>
        </p:txBody>
      </p:sp>
      <p:sp>
        <p:nvSpPr>
          <p:cNvPr id="12" name="Text 10"/>
          <p:cNvSpPr/>
          <p:nvPr/>
        </p:nvSpPr>
        <p:spPr>
          <a:xfrm>
            <a:off x="4206240" y="2560320"/>
            <a:ext cx="7772400" cy="82296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Interchange / admin fees on lifestyle spending accounts and flexible benefits spend. Scales with usage.</a:t>
            </a:r>
            <a:endParaRPr lang="en-US" sz="1400" dirty="0"/>
          </a:p>
        </p:txBody>
      </p:sp>
      <p:sp>
        <p:nvSpPr>
          <p:cNvPr id="13" name="Shape 11"/>
          <p:cNvSpPr/>
          <p:nvPr/>
        </p:nvSpPr>
        <p:spPr>
          <a:xfrm>
            <a:off x="548640" y="3657600"/>
            <a:ext cx="91440" cy="822960"/>
          </a:xfrm>
          <a:prstGeom prst="rect">
            <a:avLst/>
          </a:prstGeom>
          <a:solidFill>
            <a:srgbClr val="B85C38"/>
          </a:solidFill>
          <a:ln/>
        </p:spPr>
      </p:sp>
      <p:sp>
        <p:nvSpPr>
          <p:cNvPr id="14" name="Text 12"/>
          <p:cNvSpPr/>
          <p:nvPr/>
        </p:nvSpPr>
        <p:spPr>
          <a:xfrm>
            <a:off x="868680" y="3657600"/>
            <a:ext cx="320040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Experience Packages</a:t>
            </a:r>
            <a:endParaRPr lang="en-US" sz="1600" dirty="0"/>
          </a:p>
        </p:txBody>
      </p:sp>
      <p:sp>
        <p:nvSpPr>
          <p:cNvPr id="15" name="Text 13"/>
          <p:cNvSpPr/>
          <p:nvPr/>
        </p:nvSpPr>
        <p:spPr>
          <a:xfrm>
            <a:off x="4206240" y="3657600"/>
            <a:ext cx="7772400" cy="82296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Higher-margin planning &amp; delivery fees on Signature Odysseys and individual experiential rewards. Chile as first product.</a:t>
            </a:r>
            <a:endParaRPr lang="en-US" sz="1400" dirty="0"/>
          </a:p>
        </p:txBody>
      </p:sp>
      <p:sp>
        <p:nvSpPr>
          <p:cNvPr id="16" name="Shape 14"/>
          <p:cNvSpPr/>
          <p:nvPr/>
        </p:nvSpPr>
        <p:spPr>
          <a:xfrm>
            <a:off x="548640" y="4754880"/>
            <a:ext cx="91440" cy="822960"/>
          </a:xfrm>
          <a:prstGeom prst="rect">
            <a:avLst/>
          </a:prstGeom>
          <a:solidFill>
            <a:srgbClr val="B85C38"/>
          </a:solidFill>
          <a:ln/>
        </p:spPr>
      </p:sp>
      <p:sp>
        <p:nvSpPr>
          <p:cNvPr id="17" name="Text 15"/>
          <p:cNvSpPr/>
          <p:nvPr/>
        </p:nvSpPr>
        <p:spPr>
          <a:xfrm>
            <a:off x="868680" y="4754880"/>
            <a:ext cx="3200400" cy="36576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Enterprise &amp; Advisory</a:t>
            </a:r>
            <a:endParaRPr lang="en-US" sz="1600" dirty="0"/>
          </a:p>
        </p:txBody>
      </p:sp>
      <p:sp>
        <p:nvSpPr>
          <p:cNvPr id="18" name="Text 16"/>
          <p:cNvSpPr/>
          <p:nvPr/>
        </p:nvSpPr>
        <p:spPr>
          <a:xfrm>
            <a:off x="4206240" y="4754880"/>
            <a:ext cx="7772400" cy="82296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Custom team mapping, leadership programs, and multi-destination roadmaps for larger clients.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COMPETITIVE EDGE</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10</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10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Where we win against the category leader</a:t>
            </a:r>
            <a:endParaRPr lang="en-US" sz="2600" dirty="0"/>
          </a:p>
        </p:txBody>
      </p:sp>
      <p:sp>
        <p:nvSpPr>
          <p:cNvPr id="7" name="Text 5"/>
          <p:cNvSpPr/>
          <p:nvPr/>
        </p:nvSpPr>
        <p:spPr>
          <a:xfrm>
            <a:off x="548640" y="1463040"/>
            <a:ext cx="2926080" cy="365760"/>
          </a:xfrm>
          <a:prstGeom prst="rect">
            <a:avLst/>
          </a:prstGeom>
          <a:noFill/>
          <a:ln/>
        </p:spPr>
        <p:txBody>
          <a:bodyPr wrap="square" lIns="0" tIns="0" rIns="0" bIns="0" rtlCol="0" anchor="ctr"/>
          <a:lstStyle/>
          <a:p>
            <a:pPr indent="0" marL="0">
              <a:buNone/>
            </a:pPr>
            <a:r>
              <a:rPr lang="en-US" sz="1300" b="1" dirty="0">
                <a:solidFill>
                  <a:srgbClr val="7A756D"/>
                </a:solidFill>
                <a:latin typeface="Arial" pitchFamily="34" charset="0"/>
                <a:ea typeface="Arial" pitchFamily="34" charset="-122"/>
                <a:cs typeface="Arial" pitchFamily="34" charset="-120"/>
              </a:rPr>
              <a:t>Dimension</a:t>
            </a:r>
            <a:endParaRPr lang="en-US" sz="1300" dirty="0"/>
          </a:p>
        </p:txBody>
      </p:sp>
      <p:sp>
        <p:nvSpPr>
          <p:cNvPr id="8" name="Text 6"/>
          <p:cNvSpPr/>
          <p:nvPr/>
        </p:nvSpPr>
        <p:spPr>
          <a:xfrm>
            <a:off x="3657600" y="1463040"/>
            <a:ext cx="3840480" cy="365760"/>
          </a:xfrm>
          <a:prstGeom prst="rect">
            <a:avLst/>
          </a:prstGeom>
          <a:noFill/>
          <a:ln/>
        </p:spPr>
        <p:txBody>
          <a:bodyPr wrap="square" lIns="0" tIns="0" rIns="0" bIns="0" rtlCol="0" anchor="ctr"/>
          <a:lstStyle/>
          <a:p>
            <a:pPr indent="0" marL="0">
              <a:buNone/>
            </a:pPr>
            <a:r>
              <a:rPr lang="en-US" sz="1300" b="1" dirty="0">
                <a:solidFill>
                  <a:srgbClr val="7A756D"/>
                </a:solidFill>
                <a:latin typeface="Arial" pitchFamily="34" charset="0"/>
                <a:ea typeface="Arial" pitchFamily="34" charset="-122"/>
                <a:cs typeface="Arial" pitchFamily="34" charset="-120"/>
              </a:rPr>
              <a:t>Edenred today</a:t>
            </a:r>
            <a:endParaRPr lang="en-US" sz="1300" dirty="0"/>
          </a:p>
        </p:txBody>
      </p:sp>
      <p:sp>
        <p:nvSpPr>
          <p:cNvPr id="9" name="Text 7"/>
          <p:cNvSpPr/>
          <p:nvPr/>
        </p:nvSpPr>
        <p:spPr>
          <a:xfrm>
            <a:off x="7680960" y="1463040"/>
            <a:ext cx="4114800" cy="365760"/>
          </a:xfrm>
          <a:prstGeom prst="rect">
            <a:avLst/>
          </a:prstGeom>
          <a:noFill/>
          <a:ln/>
        </p:spPr>
        <p:txBody>
          <a:bodyPr wrap="square" lIns="0" tIns="0" rIns="0" bIns="0" rtlCol="0" anchor="ctr"/>
          <a:lstStyle/>
          <a:p>
            <a:pPr indent="0" marL="0">
              <a:buNone/>
            </a:pPr>
            <a:r>
              <a:rPr lang="en-US" sz="1300" b="1" dirty="0">
                <a:solidFill>
                  <a:srgbClr val="B85C38"/>
                </a:solidFill>
                <a:latin typeface="Arial" pitchFamily="34" charset="0"/>
                <a:ea typeface="Arial" pitchFamily="34" charset="-122"/>
                <a:cs typeface="Arial" pitchFamily="34" charset="-120"/>
              </a:rPr>
              <a:t>Motive</a:t>
            </a:r>
            <a:endParaRPr lang="en-US" sz="1300" dirty="0"/>
          </a:p>
        </p:txBody>
      </p:sp>
      <p:sp>
        <p:nvSpPr>
          <p:cNvPr id="10" name="Shape 8"/>
          <p:cNvSpPr/>
          <p:nvPr/>
        </p:nvSpPr>
        <p:spPr>
          <a:xfrm>
            <a:off x="548640" y="1874520"/>
            <a:ext cx="11064240" cy="13716"/>
          </a:xfrm>
          <a:prstGeom prst="rect">
            <a:avLst/>
          </a:prstGeom>
          <a:solidFill>
            <a:srgbClr val="CFC7B9"/>
          </a:solidFill>
          <a:ln/>
        </p:spPr>
      </p:sp>
      <p:sp>
        <p:nvSpPr>
          <p:cNvPr id="11" name="Text 9"/>
          <p:cNvSpPr/>
          <p:nvPr/>
        </p:nvSpPr>
        <p:spPr>
          <a:xfrm>
            <a:off x="548640" y="205740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Starting point</a:t>
            </a:r>
            <a:endParaRPr lang="en-US" sz="1400" dirty="0"/>
          </a:p>
        </p:txBody>
      </p:sp>
      <p:sp>
        <p:nvSpPr>
          <p:cNvPr id="12" name="Text 10"/>
          <p:cNvSpPr/>
          <p:nvPr/>
        </p:nvSpPr>
        <p:spPr>
          <a:xfrm>
            <a:off x="3657600" y="205740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Product / voucher / card</a:t>
            </a:r>
            <a:endParaRPr lang="en-US" sz="1400" dirty="0"/>
          </a:p>
        </p:txBody>
      </p:sp>
      <p:sp>
        <p:nvSpPr>
          <p:cNvPr id="13" name="Text 11"/>
          <p:cNvSpPr/>
          <p:nvPr/>
        </p:nvSpPr>
        <p:spPr>
          <a:xfrm>
            <a:off x="7680960" y="205740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Individual &amp; team motivators</a:t>
            </a:r>
            <a:endParaRPr lang="en-US" sz="1400" dirty="0"/>
          </a:p>
        </p:txBody>
      </p:sp>
      <p:sp>
        <p:nvSpPr>
          <p:cNvPr id="14" name="Text 12"/>
          <p:cNvSpPr/>
          <p:nvPr/>
        </p:nvSpPr>
        <p:spPr>
          <a:xfrm>
            <a:off x="548640" y="265176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Personalization depth</a:t>
            </a:r>
            <a:endParaRPr lang="en-US" sz="1400" dirty="0"/>
          </a:p>
        </p:txBody>
      </p:sp>
      <p:sp>
        <p:nvSpPr>
          <p:cNvPr id="15" name="Text 13"/>
          <p:cNvSpPr/>
          <p:nvPr/>
        </p:nvSpPr>
        <p:spPr>
          <a:xfrm>
            <a:off x="3657600" y="265176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Flexible modules &amp; wallets</a:t>
            </a:r>
            <a:endParaRPr lang="en-US" sz="1400" dirty="0"/>
          </a:p>
        </p:txBody>
      </p:sp>
      <p:sp>
        <p:nvSpPr>
          <p:cNvPr id="16" name="Text 14"/>
          <p:cNvSpPr/>
          <p:nvPr/>
        </p:nvSpPr>
        <p:spPr>
          <a:xfrm>
            <a:off x="7680960" y="265176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Diagnostic → recommendation loop</a:t>
            </a:r>
            <a:endParaRPr lang="en-US" sz="1400" dirty="0"/>
          </a:p>
        </p:txBody>
      </p:sp>
      <p:sp>
        <p:nvSpPr>
          <p:cNvPr id="17" name="Text 15"/>
          <p:cNvSpPr/>
          <p:nvPr/>
        </p:nvSpPr>
        <p:spPr>
          <a:xfrm>
            <a:off x="548640" y="324612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High-emotion moments</a:t>
            </a:r>
            <a:endParaRPr lang="en-US" sz="1400" dirty="0"/>
          </a:p>
        </p:txBody>
      </p:sp>
      <p:sp>
        <p:nvSpPr>
          <p:cNvPr id="18" name="Text 16"/>
          <p:cNvSpPr/>
          <p:nvPr/>
        </p:nvSpPr>
        <p:spPr>
          <a:xfrm>
            <a:off x="3657600" y="324612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Limited / partner-dependent</a:t>
            </a:r>
            <a:endParaRPr lang="en-US" sz="1400" dirty="0"/>
          </a:p>
        </p:txBody>
      </p:sp>
      <p:sp>
        <p:nvSpPr>
          <p:cNvPr id="19" name="Text 17"/>
          <p:cNvSpPr/>
          <p:nvPr/>
        </p:nvSpPr>
        <p:spPr>
          <a:xfrm>
            <a:off x="7680960" y="324612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Owned Signature Experiences</a:t>
            </a:r>
            <a:endParaRPr lang="en-US" sz="1400" dirty="0"/>
          </a:p>
        </p:txBody>
      </p:sp>
      <p:sp>
        <p:nvSpPr>
          <p:cNvPr id="20" name="Text 18"/>
          <p:cNvSpPr/>
          <p:nvPr/>
        </p:nvSpPr>
        <p:spPr>
          <a:xfrm>
            <a:off x="548640" y="384048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Chile / retreat product</a:t>
            </a:r>
            <a:endParaRPr lang="en-US" sz="1400" dirty="0"/>
          </a:p>
        </p:txBody>
      </p:sp>
      <p:sp>
        <p:nvSpPr>
          <p:cNvPr id="21" name="Text 19"/>
          <p:cNvSpPr/>
          <p:nvPr/>
        </p:nvSpPr>
        <p:spPr>
          <a:xfrm>
            <a:off x="3657600" y="384048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Not core</a:t>
            </a:r>
            <a:endParaRPr lang="en-US" sz="1400" dirty="0"/>
          </a:p>
        </p:txBody>
      </p:sp>
      <p:sp>
        <p:nvSpPr>
          <p:cNvPr id="22" name="Text 20"/>
          <p:cNvSpPr/>
          <p:nvPr/>
        </p:nvSpPr>
        <p:spPr>
          <a:xfrm>
            <a:off x="7680960" y="384048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Flagship, motivator-aligned</a:t>
            </a:r>
            <a:endParaRPr lang="en-US" sz="1400" dirty="0"/>
          </a:p>
        </p:txBody>
      </p:sp>
      <p:sp>
        <p:nvSpPr>
          <p:cNvPr id="23" name="Text 21"/>
          <p:cNvSpPr/>
          <p:nvPr/>
        </p:nvSpPr>
        <p:spPr>
          <a:xfrm>
            <a:off x="548640" y="443484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Insider knowledge</a:t>
            </a:r>
            <a:endParaRPr lang="en-US" sz="1400" dirty="0"/>
          </a:p>
        </p:txBody>
      </p:sp>
      <p:sp>
        <p:nvSpPr>
          <p:cNvPr id="24" name="Text 22"/>
          <p:cNvSpPr/>
          <p:nvPr/>
        </p:nvSpPr>
        <p:spPr>
          <a:xfrm>
            <a:off x="3657600" y="443484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The incumbent</a:t>
            </a:r>
            <a:endParaRPr lang="en-US" sz="1400" dirty="0"/>
          </a:p>
        </p:txBody>
      </p:sp>
      <p:sp>
        <p:nvSpPr>
          <p:cNvPr id="25" name="Text 23"/>
          <p:cNvSpPr/>
          <p:nvPr/>
        </p:nvSpPr>
        <p:spPr>
          <a:xfrm>
            <a:off x="7680960" y="443484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One partner still inside</a:t>
            </a:r>
            <a:endParaRPr lang="en-US" sz="1400" dirty="0"/>
          </a:p>
        </p:txBody>
      </p:sp>
      <p:sp>
        <p:nvSpPr>
          <p:cNvPr id="26" name="Text 24"/>
          <p:cNvSpPr/>
          <p:nvPr/>
        </p:nvSpPr>
        <p:spPr>
          <a:xfrm>
            <a:off x="548640" y="5029200"/>
            <a:ext cx="2926080" cy="45720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Motivation science</a:t>
            </a:r>
            <a:endParaRPr lang="en-US" sz="1400" dirty="0"/>
          </a:p>
        </p:txBody>
      </p:sp>
      <p:sp>
        <p:nvSpPr>
          <p:cNvPr id="27" name="Text 25"/>
          <p:cNvSpPr/>
          <p:nvPr/>
        </p:nvSpPr>
        <p:spPr>
          <a:xfrm>
            <a:off x="3657600" y="5029200"/>
            <a:ext cx="3840480" cy="457200"/>
          </a:xfrm>
          <a:prstGeom prst="rect">
            <a:avLst/>
          </a:prstGeom>
          <a:noFill/>
          <a:ln/>
        </p:spPr>
        <p:txBody>
          <a:bodyPr wrap="square" lIns="0" tIns="0" rIns="0" bIns="0" rtlCol="0" anchor="ctr"/>
          <a:lstStyle/>
          <a:p>
            <a:pPr indent="0" marL="0">
              <a:buNone/>
            </a:pPr>
            <a:r>
              <a:rPr lang="en-US" sz="1400" dirty="0">
                <a:solidFill>
                  <a:srgbClr val="7A756D"/>
                </a:solidFill>
                <a:latin typeface="Arial" pitchFamily="34" charset="0"/>
                <a:ea typeface="Arial" pitchFamily="34" charset="-122"/>
                <a:cs typeface="Arial" pitchFamily="34" charset="-120"/>
              </a:rPr>
              <a:t>Engagement surveys</a:t>
            </a:r>
            <a:endParaRPr lang="en-US" sz="1400" dirty="0"/>
          </a:p>
        </p:txBody>
      </p:sp>
      <p:sp>
        <p:nvSpPr>
          <p:cNvPr id="28" name="Text 26"/>
          <p:cNvSpPr/>
          <p:nvPr/>
        </p:nvSpPr>
        <p:spPr>
          <a:xfrm>
            <a:off x="7680960" y="5029200"/>
            <a:ext cx="4114800" cy="4572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Motivation Map at the core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00" spc="350" kern="0" dirty="0">
                <a:solidFill>
                  <a:srgbClr val="7A756D"/>
                </a:solidFill>
                <a:latin typeface="Arial" pitchFamily="34" charset="0"/>
                <a:ea typeface="Arial" pitchFamily="34" charset="-122"/>
                <a:cs typeface="Arial" pitchFamily="34" charset="-120"/>
              </a:rPr>
              <a:t>GO-TO-MARKET</a:t>
            </a:r>
            <a:endParaRPr lang="en-US" sz="1000" dirty="0"/>
          </a:p>
        </p:txBody>
      </p:sp>
      <p:sp>
        <p:nvSpPr>
          <p:cNvPr id="3" name="Text 1"/>
          <p:cNvSpPr/>
          <p:nvPr/>
        </p:nvSpPr>
        <p:spPr>
          <a:xfrm>
            <a:off x="9997135" y="292608"/>
            <a:ext cx="1645920" cy="256032"/>
          </a:xfrm>
          <a:prstGeom prst="rect">
            <a:avLst/>
          </a:prstGeom>
          <a:noFill/>
          <a:ln/>
        </p:spPr>
        <p:txBody>
          <a:bodyPr wrap="square" lIns="0" tIns="0" rIns="0" bIns="0" rtlCol="0" anchor="ctr"/>
          <a:lstStyle/>
          <a:p>
            <a:pPr algn="r" indent="0" marL="0">
              <a:buNone/>
            </a:pPr>
            <a:r>
              <a:rPr lang="en-US" sz="1000" spc="350" kern="0" dirty="0">
                <a:solidFill>
                  <a:srgbClr val="7A756D"/>
                </a:solidFill>
                <a:latin typeface="Arial" pitchFamily="34" charset="0"/>
                <a:ea typeface="Arial" pitchFamily="34" charset="-122"/>
                <a:cs typeface="Arial" pitchFamily="34" charset="-120"/>
              </a:rPr>
              <a:t>11</a:t>
            </a:r>
            <a:endParaRPr lang="en-US" sz="10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00" spc="250" kern="0" dirty="0">
                <a:solidFill>
                  <a:srgbClr val="7A756D"/>
                </a:solidFill>
                <a:latin typeface="Arial" pitchFamily="34" charset="0"/>
                <a:ea typeface="Arial" pitchFamily="34" charset="-122"/>
                <a:cs typeface="Arial" pitchFamily="34" charset="-120"/>
              </a:rPr>
              <a:t>MOTIVE  ·  CONFIDENTIAL</a:t>
            </a:r>
            <a:endParaRPr lang="en-US" sz="900" dirty="0"/>
          </a:p>
        </p:txBody>
      </p:sp>
      <p:sp>
        <p:nvSpPr>
          <p:cNvPr id="5" name="Text 3"/>
          <p:cNvSpPr/>
          <p:nvPr/>
        </p:nvSpPr>
        <p:spPr>
          <a:xfrm>
            <a:off x="8442655" y="6419088"/>
            <a:ext cx="3200400" cy="256032"/>
          </a:xfrm>
          <a:prstGeom prst="rect">
            <a:avLst/>
          </a:prstGeom>
          <a:noFill/>
          <a:ln/>
        </p:spPr>
        <p:txBody>
          <a:bodyPr wrap="square" lIns="0" tIns="0" rIns="0" bIns="0" rtlCol="0" anchor="ctr"/>
          <a:lstStyle/>
          <a:p>
            <a:pPr algn="r" indent="0" marL="0">
              <a:buNone/>
            </a:pPr>
            <a:r>
              <a:rPr lang="en-US" sz="900" spc="250" kern="0" dirty="0">
                <a:solidFill>
                  <a:srgbClr val="7A756D"/>
                </a:solidFill>
                <a:latin typeface="Arial" pitchFamily="34" charset="0"/>
                <a:ea typeface="Arial" pitchFamily="34" charset="-122"/>
                <a:cs typeface="Arial" pitchFamily="34" charset="-120"/>
              </a:rPr>
              <a:t>11 / 12</a:t>
            </a:r>
            <a:endParaRPr lang="en-US" sz="900" dirty="0"/>
          </a:p>
        </p:txBody>
      </p:sp>
      <p:sp>
        <p:nvSpPr>
          <p:cNvPr id="6" name="Text 4"/>
          <p:cNvSpPr/>
          <p:nvPr/>
        </p:nvSpPr>
        <p:spPr>
          <a:xfrm>
            <a:off x="548640" y="777240"/>
            <a:ext cx="10972800" cy="457200"/>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Start focused. Expand from proof.</a:t>
            </a:r>
            <a:endParaRPr lang="en-US" sz="2600" dirty="0"/>
          </a:p>
        </p:txBody>
      </p:sp>
      <p:sp>
        <p:nvSpPr>
          <p:cNvPr id="7" name="Shape 5"/>
          <p:cNvSpPr/>
          <p:nvPr/>
        </p:nvSpPr>
        <p:spPr>
          <a:xfrm>
            <a:off x="548640" y="1463040"/>
            <a:ext cx="3566160" cy="4206240"/>
          </a:xfrm>
          <a:prstGeom prst="roundRect">
            <a:avLst>
              <a:gd name="adj" fmla="val 2564"/>
            </a:avLst>
          </a:prstGeom>
          <a:solidFill>
            <a:srgbClr val="F5F0E6"/>
          </a:solidFill>
          <a:ln/>
        </p:spPr>
      </p:sp>
      <p:sp>
        <p:nvSpPr>
          <p:cNvPr id="8" name="Text 6"/>
          <p:cNvSpPr/>
          <p:nvPr/>
        </p:nvSpPr>
        <p:spPr>
          <a:xfrm>
            <a:off x="822960" y="1691640"/>
            <a:ext cx="3017520" cy="32004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Phase 1</a:t>
            </a:r>
            <a:endParaRPr lang="en-US" sz="1400" dirty="0"/>
          </a:p>
        </p:txBody>
      </p:sp>
      <p:sp>
        <p:nvSpPr>
          <p:cNvPr id="9" name="Text 7"/>
          <p:cNvSpPr/>
          <p:nvPr/>
        </p:nvSpPr>
        <p:spPr>
          <a:xfrm>
            <a:off x="822960" y="2057400"/>
            <a:ext cx="301752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0–6 months</a:t>
            </a:r>
            <a:endParaRPr lang="en-US" sz="1500" dirty="0"/>
          </a:p>
        </p:txBody>
      </p:sp>
      <p:sp>
        <p:nvSpPr>
          <p:cNvPr id="10" name="Text 8"/>
          <p:cNvSpPr/>
          <p:nvPr/>
        </p:nvSpPr>
        <p:spPr>
          <a:xfrm>
            <a:off x="822960" y="265176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Finalize brand &amp; packaging</a:t>
            </a:r>
            <a:endParaRPr lang="en-US" sz="1300" dirty="0"/>
          </a:p>
        </p:txBody>
      </p:sp>
      <p:sp>
        <p:nvSpPr>
          <p:cNvPr id="11" name="Text 9"/>
          <p:cNvSpPr/>
          <p:nvPr/>
        </p:nvSpPr>
        <p:spPr>
          <a:xfrm>
            <a:off x="822960" y="329184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Productize Chile Signature with Motivation Map pre/post</a:t>
            </a:r>
            <a:endParaRPr lang="en-US" sz="1300" dirty="0"/>
          </a:p>
        </p:txBody>
      </p:sp>
      <p:sp>
        <p:nvSpPr>
          <p:cNvPr id="12" name="Text 10"/>
          <p:cNvSpPr/>
          <p:nvPr/>
        </p:nvSpPr>
        <p:spPr>
          <a:xfrm>
            <a:off x="822960" y="393192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Pilot with 3–5 companies via existing networks</a:t>
            </a:r>
            <a:endParaRPr lang="en-US" sz="1300" dirty="0"/>
          </a:p>
        </p:txBody>
      </p:sp>
      <p:sp>
        <p:nvSpPr>
          <p:cNvPr id="13" name="Text 11"/>
          <p:cNvSpPr/>
          <p:nvPr/>
        </p:nvSpPr>
        <p:spPr>
          <a:xfrm>
            <a:off x="822960" y="457200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Refine diagnostic → benefits → experience loop</a:t>
            </a:r>
            <a:endParaRPr lang="en-US" sz="1300" dirty="0"/>
          </a:p>
        </p:txBody>
      </p:sp>
      <p:sp>
        <p:nvSpPr>
          <p:cNvPr id="14" name="Shape 12"/>
          <p:cNvSpPr/>
          <p:nvPr/>
        </p:nvSpPr>
        <p:spPr>
          <a:xfrm>
            <a:off x="4297680" y="1463040"/>
            <a:ext cx="3566160" cy="4206240"/>
          </a:xfrm>
          <a:prstGeom prst="roundRect">
            <a:avLst>
              <a:gd name="adj" fmla="val 2564"/>
            </a:avLst>
          </a:prstGeom>
          <a:solidFill>
            <a:srgbClr val="F5F0E6"/>
          </a:solidFill>
          <a:ln/>
        </p:spPr>
      </p:sp>
      <p:sp>
        <p:nvSpPr>
          <p:cNvPr id="15" name="Text 13"/>
          <p:cNvSpPr/>
          <p:nvPr/>
        </p:nvSpPr>
        <p:spPr>
          <a:xfrm>
            <a:off x="4572000" y="1691640"/>
            <a:ext cx="3017520" cy="32004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Phase 2</a:t>
            </a:r>
            <a:endParaRPr lang="en-US" sz="1400" dirty="0"/>
          </a:p>
        </p:txBody>
      </p:sp>
      <p:sp>
        <p:nvSpPr>
          <p:cNvPr id="16" name="Text 14"/>
          <p:cNvSpPr/>
          <p:nvPr/>
        </p:nvSpPr>
        <p:spPr>
          <a:xfrm>
            <a:off x="4572000" y="2057400"/>
            <a:ext cx="301752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6–18 months</a:t>
            </a:r>
            <a:endParaRPr lang="en-US" sz="1500" dirty="0"/>
          </a:p>
        </p:txBody>
      </p:sp>
      <p:sp>
        <p:nvSpPr>
          <p:cNvPr id="17" name="Text 15"/>
          <p:cNvSpPr/>
          <p:nvPr/>
        </p:nvSpPr>
        <p:spPr>
          <a:xfrm>
            <a:off x="4572000" y="265176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Launch core platform (SaaS + benefits engine)</a:t>
            </a:r>
            <a:endParaRPr lang="en-US" sz="1300" dirty="0"/>
          </a:p>
        </p:txBody>
      </p:sp>
      <p:sp>
        <p:nvSpPr>
          <p:cNvPr id="18" name="Text 16"/>
          <p:cNvSpPr/>
          <p:nvPr/>
        </p:nvSpPr>
        <p:spPr>
          <a:xfrm>
            <a:off x="4572000" y="329184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Add 2–3 additional Signature destinations</a:t>
            </a:r>
            <a:endParaRPr lang="en-US" sz="1300" dirty="0"/>
          </a:p>
        </p:txBody>
      </p:sp>
      <p:sp>
        <p:nvSpPr>
          <p:cNvPr id="19" name="Text 17"/>
          <p:cNvSpPr/>
          <p:nvPr/>
        </p:nvSpPr>
        <p:spPr>
          <a:xfrm>
            <a:off x="4572000" y="393192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Build case studies on engagement &amp; retention lift</a:t>
            </a:r>
            <a:endParaRPr lang="en-US" sz="1300" dirty="0"/>
          </a:p>
        </p:txBody>
      </p:sp>
      <p:sp>
        <p:nvSpPr>
          <p:cNvPr id="20" name="Text 18"/>
          <p:cNvSpPr/>
          <p:nvPr/>
        </p:nvSpPr>
        <p:spPr>
          <a:xfrm>
            <a:off x="4572000" y="457200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Hire first commercial roles</a:t>
            </a:r>
            <a:endParaRPr lang="en-US" sz="1300" dirty="0"/>
          </a:p>
        </p:txBody>
      </p:sp>
      <p:sp>
        <p:nvSpPr>
          <p:cNvPr id="21" name="Shape 19"/>
          <p:cNvSpPr/>
          <p:nvPr/>
        </p:nvSpPr>
        <p:spPr>
          <a:xfrm>
            <a:off x="8046720" y="1463040"/>
            <a:ext cx="3566160" cy="4206240"/>
          </a:xfrm>
          <a:prstGeom prst="roundRect">
            <a:avLst>
              <a:gd name="adj" fmla="val 2564"/>
            </a:avLst>
          </a:prstGeom>
          <a:solidFill>
            <a:srgbClr val="F5F0E6"/>
          </a:solidFill>
          <a:ln/>
        </p:spPr>
      </p:sp>
      <p:sp>
        <p:nvSpPr>
          <p:cNvPr id="22" name="Text 20"/>
          <p:cNvSpPr/>
          <p:nvPr/>
        </p:nvSpPr>
        <p:spPr>
          <a:xfrm>
            <a:off x="8321040" y="1691640"/>
            <a:ext cx="3017520" cy="320040"/>
          </a:xfrm>
          <a:prstGeom prst="rect">
            <a:avLst/>
          </a:prstGeom>
          <a:noFill/>
          <a:ln/>
        </p:spPr>
        <p:txBody>
          <a:bodyPr wrap="square" lIns="0" tIns="0" rIns="0" bIns="0" rtlCol="0" anchor="ctr"/>
          <a:lstStyle/>
          <a:p>
            <a:pPr indent="0" marL="0">
              <a:buNone/>
            </a:pPr>
            <a:r>
              <a:rPr lang="en-US" sz="1400" b="1" dirty="0">
                <a:solidFill>
                  <a:srgbClr val="B85C38"/>
                </a:solidFill>
                <a:latin typeface="Arial" pitchFamily="34" charset="0"/>
                <a:ea typeface="Arial" pitchFamily="34" charset="-122"/>
                <a:cs typeface="Arial" pitchFamily="34" charset="-120"/>
              </a:rPr>
              <a:t>Phase 3</a:t>
            </a:r>
            <a:endParaRPr lang="en-US" sz="1400" dirty="0"/>
          </a:p>
        </p:txBody>
      </p:sp>
      <p:sp>
        <p:nvSpPr>
          <p:cNvPr id="23" name="Text 21"/>
          <p:cNvSpPr/>
          <p:nvPr/>
        </p:nvSpPr>
        <p:spPr>
          <a:xfrm>
            <a:off x="8321040" y="2057400"/>
            <a:ext cx="301752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18–36 months</a:t>
            </a:r>
            <a:endParaRPr lang="en-US" sz="1500" dirty="0"/>
          </a:p>
        </p:txBody>
      </p:sp>
      <p:sp>
        <p:nvSpPr>
          <p:cNvPr id="24" name="Text 22"/>
          <p:cNvSpPr/>
          <p:nvPr/>
        </p:nvSpPr>
        <p:spPr>
          <a:xfrm>
            <a:off x="8321040" y="265176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Scale platform across key European markets</a:t>
            </a:r>
            <a:endParaRPr lang="en-US" sz="1300" dirty="0"/>
          </a:p>
        </p:txBody>
      </p:sp>
      <p:sp>
        <p:nvSpPr>
          <p:cNvPr id="25" name="Text 23"/>
          <p:cNvSpPr/>
          <p:nvPr/>
        </p:nvSpPr>
        <p:spPr>
          <a:xfrm>
            <a:off x="8321040" y="329184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Expand experience catalog + individual rewards</a:t>
            </a:r>
            <a:endParaRPr lang="en-US" sz="1300" dirty="0"/>
          </a:p>
        </p:txBody>
      </p:sp>
      <p:sp>
        <p:nvSpPr>
          <p:cNvPr id="26" name="Text 24"/>
          <p:cNvSpPr/>
          <p:nvPr/>
        </p:nvSpPr>
        <p:spPr>
          <a:xfrm>
            <a:off x="8321040" y="393192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Explore selective partnerships or white-label</a:t>
            </a:r>
            <a:endParaRPr lang="en-US" sz="1300" dirty="0"/>
          </a:p>
        </p:txBody>
      </p:sp>
      <p:sp>
        <p:nvSpPr>
          <p:cNvPr id="27" name="Text 25"/>
          <p:cNvSpPr/>
          <p:nvPr/>
        </p:nvSpPr>
        <p:spPr>
          <a:xfrm>
            <a:off x="8321040" y="4572000"/>
            <a:ext cx="3017520" cy="594360"/>
          </a:xfrm>
          <a:prstGeom prst="rect">
            <a:avLst/>
          </a:prstGeom>
          <a:noFill/>
          <a:ln/>
        </p:spPr>
        <p:txBody>
          <a:bodyPr wrap="square" lIns="0" tIns="0" rIns="0" bIns="0" rtlCol="0" anchor="ctr"/>
          <a:lstStyle/>
          <a:p>
            <a:pPr indent="0" marL="0">
              <a:buNone/>
            </a:pPr>
            <a:r>
              <a:rPr lang="en-US" sz="1300" dirty="0">
                <a:solidFill>
                  <a:srgbClr val="7A756D"/>
                </a:solidFill>
                <a:latin typeface="Arial" pitchFamily="34" charset="0"/>
                <a:ea typeface="Arial" pitchFamily="34" charset="-122"/>
                <a:cs typeface="Arial" pitchFamily="34" charset="-120"/>
              </a:rPr>
              <a:t>•  Position for Series A or strategic interest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824"/>
        </a:solidFill>
      </p:bgPr>
    </p:bg>
    <p:spTree>
      <p:nvGrpSpPr>
        <p:cNvPr id="1" name=""/>
        <p:cNvGrpSpPr/>
        <p:nvPr/>
      </p:nvGrpSpPr>
      <p:grpSpPr>
        <a:xfrm>
          <a:off x="0" y="0"/>
          <a:ext cx="0" cy="0"/>
          <a:chOff x="0" y="0"/>
          <a:chExt cx="0" cy="0"/>
        </a:xfrm>
      </p:grpSpPr>
      <p:sp>
        <p:nvSpPr>
          <p:cNvPr id="2" name="Text 0"/>
          <p:cNvSpPr/>
          <p:nvPr/>
        </p:nvSpPr>
        <p:spPr>
          <a:xfrm>
            <a:off x="548640" y="1371600"/>
            <a:ext cx="10972800" cy="548640"/>
          </a:xfrm>
          <a:prstGeom prst="rect">
            <a:avLst/>
          </a:prstGeom>
          <a:noFill/>
          <a:ln/>
        </p:spPr>
        <p:txBody>
          <a:bodyPr wrap="square" lIns="0" tIns="0" rIns="0" bIns="0" rtlCol="0" anchor="ctr"/>
          <a:lstStyle/>
          <a:p>
            <a:pPr indent="0" marL="0">
              <a:buNone/>
            </a:pPr>
            <a:r>
              <a:rPr lang="en-US" sz="3200" b="1" dirty="0">
                <a:solidFill>
                  <a:srgbClr val="EFEAE0"/>
                </a:solidFill>
                <a:latin typeface="Arial" pitchFamily="34" charset="0"/>
                <a:ea typeface="Arial" pitchFamily="34" charset="-122"/>
                <a:cs typeface="Arial" pitchFamily="34" charset="-120"/>
              </a:rPr>
              <a:t>Next steps</a:t>
            </a:r>
            <a:endParaRPr lang="en-US" sz="3200" dirty="0"/>
          </a:p>
        </p:txBody>
      </p:sp>
      <p:sp>
        <p:nvSpPr>
          <p:cNvPr id="3" name="Text 1"/>
          <p:cNvSpPr/>
          <p:nvPr/>
        </p:nvSpPr>
        <p:spPr>
          <a:xfrm>
            <a:off x="548640" y="2194560"/>
            <a:ext cx="10972800" cy="457200"/>
          </a:xfrm>
          <a:prstGeom prst="rect">
            <a:avLst/>
          </a:prstGeom>
          <a:noFill/>
          <a:ln/>
        </p:spPr>
        <p:txBody>
          <a:bodyPr wrap="square" lIns="0" tIns="0" rIns="0" bIns="0" rtlCol="0" anchor="ctr"/>
          <a:lstStyle/>
          <a:p>
            <a:pPr indent="0" marL="0">
              <a:buNone/>
            </a:pPr>
            <a:r>
              <a:rPr lang="en-US" sz="1800" dirty="0">
                <a:solidFill>
                  <a:srgbClr val="A89F93"/>
                </a:solidFill>
                <a:latin typeface="Arial" pitchFamily="34" charset="0"/>
                <a:ea typeface="Arial" pitchFamily="34" charset="-122"/>
                <a:cs typeface="Arial" pitchFamily="34" charset="-120"/>
              </a:rPr>
              <a:t>1.  Align on company name, equity split, and roles</a:t>
            </a:r>
            <a:endParaRPr lang="en-US" sz="1800" dirty="0"/>
          </a:p>
        </p:txBody>
      </p:sp>
      <p:sp>
        <p:nvSpPr>
          <p:cNvPr id="4" name="Text 2"/>
          <p:cNvSpPr/>
          <p:nvPr/>
        </p:nvSpPr>
        <p:spPr>
          <a:xfrm>
            <a:off x="548640" y="2697480"/>
            <a:ext cx="10972800" cy="457200"/>
          </a:xfrm>
          <a:prstGeom prst="rect">
            <a:avLst/>
          </a:prstGeom>
          <a:noFill/>
          <a:ln/>
        </p:spPr>
        <p:txBody>
          <a:bodyPr wrap="square" lIns="0" tIns="0" rIns="0" bIns="0" rtlCol="0" anchor="ctr"/>
          <a:lstStyle/>
          <a:p>
            <a:pPr indent="0" marL="0">
              <a:buNone/>
            </a:pPr>
            <a:r>
              <a:rPr lang="en-US" sz="1800" dirty="0">
                <a:solidFill>
                  <a:srgbClr val="A89F93"/>
                </a:solidFill>
                <a:latin typeface="Arial" pitchFamily="34" charset="0"/>
                <a:ea typeface="Arial" pitchFamily="34" charset="-122"/>
                <a:cs typeface="Arial" pitchFamily="34" charset="-120"/>
              </a:rPr>
              <a:t>2.  Lock the Chile Signature package (itinerary + Motivation Map integration)</a:t>
            </a:r>
            <a:endParaRPr lang="en-US" sz="1800" dirty="0"/>
          </a:p>
        </p:txBody>
      </p:sp>
      <p:sp>
        <p:nvSpPr>
          <p:cNvPr id="5" name="Text 3"/>
          <p:cNvSpPr/>
          <p:nvPr/>
        </p:nvSpPr>
        <p:spPr>
          <a:xfrm>
            <a:off x="548640" y="3200400"/>
            <a:ext cx="10972800" cy="457200"/>
          </a:xfrm>
          <a:prstGeom prst="rect">
            <a:avLst/>
          </a:prstGeom>
          <a:noFill/>
          <a:ln/>
        </p:spPr>
        <p:txBody>
          <a:bodyPr wrap="square" lIns="0" tIns="0" rIns="0" bIns="0" rtlCol="0" anchor="ctr"/>
          <a:lstStyle/>
          <a:p>
            <a:pPr indent="0" marL="0">
              <a:buNone/>
            </a:pPr>
            <a:r>
              <a:rPr lang="en-US" sz="1800" dirty="0">
                <a:solidFill>
                  <a:srgbClr val="A89F93"/>
                </a:solidFill>
                <a:latin typeface="Arial" pitchFamily="34" charset="0"/>
                <a:ea typeface="Arial" pitchFamily="34" charset="-122"/>
                <a:cs typeface="Arial" pitchFamily="34" charset="-120"/>
              </a:rPr>
              <a:t>3.  Identify 3 pilot companies from existing networks</a:t>
            </a:r>
            <a:endParaRPr lang="en-US" sz="1800" dirty="0"/>
          </a:p>
        </p:txBody>
      </p:sp>
      <p:sp>
        <p:nvSpPr>
          <p:cNvPr id="6" name="Text 4"/>
          <p:cNvSpPr/>
          <p:nvPr/>
        </p:nvSpPr>
        <p:spPr>
          <a:xfrm>
            <a:off x="548640" y="3703320"/>
            <a:ext cx="10972800" cy="457200"/>
          </a:xfrm>
          <a:prstGeom prst="rect">
            <a:avLst/>
          </a:prstGeom>
          <a:noFill/>
          <a:ln/>
        </p:spPr>
        <p:txBody>
          <a:bodyPr wrap="square" lIns="0" tIns="0" rIns="0" bIns="0" rtlCol="0" anchor="ctr"/>
          <a:lstStyle/>
          <a:p>
            <a:pPr indent="0" marL="0">
              <a:buNone/>
            </a:pPr>
            <a:r>
              <a:rPr lang="en-US" sz="1800" dirty="0">
                <a:solidFill>
                  <a:srgbClr val="A89F93"/>
                </a:solidFill>
                <a:latin typeface="Arial" pitchFamily="34" charset="0"/>
                <a:ea typeface="Arial" pitchFamily="34" charset="-122"/>
                <a:cs typeface="Arial" pitchFamily="34" charset="-120"/>
              </a:rPr>
              <a:t>4.  Decide MVP scope for the platform vs. services-first approach</a:t>
            </a:r>
            <a:endParaRPr lang="en-US" sz="1800" dirty="0"/>
          </a:p>
        </p:txBody>
      </p:sp>
      <p:sp>
        <p:nvSpPr>
          <p:cNvPr id="7" name="Text 5"/>
          <p:cNvSpPr/>
          <p:nvPr/>
        </p:nvSpPr>
        <p:spPr>
          <a:xfrm>
            <a:off x="548640" y="4206240"/>
            <a:ext cx="10972800" cy="457200"/>
          </a:xfrm>
          <a:prstGeom prst="rect">
            <a:avLst/>
          </a:prstGeom>
          <a:noFill/>
          <a:ln/>
        </p:spPr>
        <p:txBody>
          <a:bodyPr wrap="square" lIns="0" tIns="0" rIns="0" bIns="0" rtlCol="0" anchor="ctr"/>
          <a:lstStyle/>
          <a:p>
            <a:pPr indent="0" marL="0">
              <a:buNone/>
            </a:pPr>
            <a:r>
              <a:rPr lang="en-US" sz="1800" dirty="0">
                <a:solidFill>
                  <a:srgbClr val="A89F93"/>
                </a:solidFill>
                <a:latin typeface="Arial" pitchFamily="34" charset="0"/>
                <a:ea typeface="Arial" pitchFamily="34" charset="-122"/>
                <a:cs typeface="Arial" pitchFamily="34" charset="-120"/>
              </a:rPr>
              <a:t>5.  Schedule weekly partner working sessions for 90 days</a:t>
            </a:r>
            <a:endParaRPr lang="en-US" sz="1800" dirty="0"/>
          </a:p>
        </p:txBody>
      </p:sp>
      <p:sp>
        <p:nvSpPr>
          <p:cNvPr id="8" name="Text 6"/>
          <p:cNvSpPr/>
          <p:nvPr/>
        </p:nvSpPr>
        <p:spPr>
          <a:xfrm>
            <a:off x="548640" y="5760720"/>
            <a:ext cx="10972800" cy="365760"/>
          </a:xfrm>
          <a:prstGeom prst="rect">
            <a:avLst/>
          </a:prstGeom>
          <a:noFill/>
          <a:ln/>
        </p:spPr>
        <p:txBody>
          <a:bodyPr wrap="square" lIns="0" tIns="0" rIns="0" bIns="0" rtlCol="0" anchor="ctr"/>
          <a:lstStyle/>
          <a:p>
            <a:pPr indent="0" marL="0">
              <a:buNone/>
            </a:pPr>
            <a:r>
              <a:rPr lang="en-US" sz="1600" dirty="0">
                <a:solidFill>
                  <a:srgbClr val="B85C38"/>
                </a:solidFill>
                <a:latin typeface="Arial" pitchFamily="34" charset="0"/>
                <a:ea typeface="Arial" pitchFamily="34" charset="-122"/>
                <a:cs typeface="Arial" pitchFamily="34" charset="-120"/>
              </a:rPr>
              <a:t>Motive  ·  Benefits that move people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Motive — Motivation-Driven Benefits &amp; Intentional Experiences</dc:title>
  <dc:subject>PptxGenJS Presentation</dc:subject>
  <dc:creator>Motive Partners</dc:creator>
  <cp:lastModifiedBy>Motive Partners</cp:lastModifiedBy>
  <cp:revision>1</cp:revision>
  <dcterms:created xsi:type="dcterms:W3CDTF">2026-07-25T14:59:10Z</dcterms:created>
  <dcterms:modified xsi:type="dcterms:W3CDTF">2026-07-25T14:59:10Z</dcterms:modified>
</cp:coreProperties>
</file>